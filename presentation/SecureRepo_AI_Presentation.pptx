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84860839a44c2c" /><Relationship Type="http://schemas.openxmlformats.org/officeDocument/2006/relationships/extended-properties" Target="/docProps/app.xml" Id="R24397334f68848ca" /><Relationship Type="http://schemas.openxmlformats.org/officeDocument/2006/relationships/officeDocument" Target="/ppt/presentation.xml" Id="R70263dae3b254b24" /></Relationships>
</file>

<file path=ppt/presentation.xml><?xml version="1.0" encoding="utf-8"?>
<p:presentation xmlns:p="http://schemas.openxmlformats.org/presentationml/2006/main">
  <p:sldMasterIdLst>
    <p:sldMasterId xmlns:r="http://schemas.openxmlformats.org/officeDocument/2006/relationships" id="2147483648" r:id="Rfc0b5f1893974986"/>
  </p:sldMasterIdLst>
  <p:notesMasterIdLst>
    <p:notesMasterId xmlns:r="http://schemas.openxmlformats.org/officeDocument/2006/relationships" r:id="R79720196266049ba"/>
  </p:notesMasterIdLst>
  <p:sldIdLst>
    <p:sldId xmlns:r="http://schemas.openxmlformats.org/officeDocument/2006/relationships" id="256" r:id="R8d7bccca9f53449e"/>
    <p:sldId xmlns:r="http://schemas.openxmlformats.org/officeDocument/2006/relationships" id="257" r:id="Rb00052d379674e3b"/>
    <p:sldId xmlns:r="http://schemas.openxmlformats.org/officeDocument/2006/relationships" id="258" r:id="R50cc33612be943da"/>
    <p:sldId xmlns:r="http://schemas.openxmlformats.org/officeDocument/2006/relationships" id="259" r:id="Rd33bb3199ecb4a95"/>
    <p:sldId xmlns:r="http://schemas.openxmlformats.org/officeDocument/2006/relationships" id="260" r:id="R267cc0d48b5e4deb"/>
    <p:sldId xmlns:r="http://schemas.openxmlformats.org/officeDocument/2006/relationships" id="261" r:id="R0fb366fa79dd4440"/>
    <p:sldId xmlns:r="http://schemas.openxmlformats.org/officeDocument/2006/relationships" id="262" r:id="R1f9c4fe00db44501"/>
    <p:sldId xmlns:r="http://schemas.openxmlformats.org/officeDocument/2006/relationships" id="263" r:id="R2d0286e791834b0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d1c72f9ac14f93" /><Relationship Type="http://schemas.openxmlformats.org/officeDocument/2006/relationships/slideMaster" Target="/ppt/slideMasters/slideMaster1.xml" Id="Rfc0b5f1893974986" /><Relationship Type="http://schemas.openxmlformats.org/officeDocument/2006/relationships/notesMaster" Target="/ppt/notesMasters/notesMaster1.xml" Id="R79720196266049ba" /><Relationship Type="http://schemas.openxmlformats.org/officeDocument/2006/relationships/presProps" Target="/ppt/presProps.xml" Id="Refa117be4c204294" /><Relationship Type="http://schemas.openxmlformats.org/officeDocument/2006/relationships/tableStyles" Target="/ppt/tableStyles.xml" Id="R264dab1cf13241b4" /><Relationship Type="http://schemas.openxmlformats.org/officeDocument/2006/relationships/slide" Target="/ppt/slides/slide1.xml" Id="R8d7bccca9f53449e" /><Relationship Type="http://schemas.openxmlformats.org/officeDocument/2006/relationships/slide" Target="/ppt/slides/slide2.xml" Id="Rb00052d379674e3b" /><Relationship Type="http://schemas.openxmlformats.org/officeDocument/2006/relationships/slide" Target="/ppt/slides/slide3.xml" Id="R50cc33612be943da" /><Relationship Type="http://schemas.openxmlformats.org/officeDocument/2006/relationships/slide" Target="/ppt/slides/slide4.xml" Id="Rd33bb3199ecb4a95" /><Relationship Type="http://schemas.openxmlformats.org/officeDocument/2006/relationships/slide" Target="/ppt/slides/slide5.xml" Id="R267cc0d48b5e4deb" /><Relationship Type="http://schemas.openxmlformats.org/officeDocument/2006/relationships/slide" Target="/ppt/slides/slide6.xml" Id="R0fb366fa79dd4440" /><Relationship Type="http://schemas.openxmlformats.org/officeDocument/2006/relationships/slide" Target="/ppt/slides/slide7.xml" Id="R1f9c4fe00db44501" /><Relationship Type="http://schemas.openxmlformats.org/officeDocument/2006/relationships/slide" Target="/ppt/slides/slide8.xml" Id="R2d0286e791834b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8c12fbc8714d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2c34a051fa4937" /><Relationship Type="http://schemas.openxmlformats.org/officeDocument/2006/relationships/notesMaster" Target="/ppt/notesMasters/notesMaster1.xml" Id="R55ab1fd6b37742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e1fbf3b49b4972" /><Relationship Type="http://schemas.openxmlformats.org/officeDocument/2006/relationships/notesMaster" Target="/ppt/notesMasters/notesMaster1.xml" Id="R010a819e665343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95ac734c3a4f2c" /><Relationship Type="http://schemas.openxmlformats.org/officeDocument/2006/relationships/notesMaster" Target="/ppt/notesMasters/notesMaster1.xml" Id="R613e7fbad71c4e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539bc799fb4be9" /><Relationship Type="http://schemas.openxmlformats.org/officeDocument/2006/relationships/notesMaster" Target="/ppt/notesMasters/notesMaster1.xml" Id="Rdf1ce8f81e2840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0ce586142445c3" /><Relationship Type="http://schemas.openxmlformats.org/officeDocument/2006/relationships/notesMaster" Target="/ppt/notesMasters/notesMaster1.xml" Id="Refd806a887e145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c860d4c8da47db" /><Relationship Type="http://schemas.openxmlformats.org/officeDocument/2006/relationships/notesMaster" Target="/ppt/notesMasters/notesMaster1.xml" Id="Rfa006bde308a4f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a14abc2ff348bf" /><Relationship Type="http://schemas.openxmlformats.org/officeDocument/2006/relationships/notesMaster" Target="/ppt/notesMasters/notesMaster1.xml" Id="R13e99a0973dc4f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2a4973436e4beb" /><Relationship Type="http://schemas.openxmlformats.org/officeDocument/2006/relationships/notesMaster" Target="/ppt/notesMasters/notesMaster1.xml" Id="R6afbeed9179743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Vibe coding helped me build faster, but it exposed a gap: security review often falls behind the speed of generation. I built SecureRepo AI to close that gap for public Python repositories. A user submits a GitHub URL, and the system combines scanner evidence, retrieved security guidance, and my fine-tuned open-source model into a clear first-pass report. It is designed to help developers review sooner—not to replace a security professional.</a:t>
            </a:r>
          </a:p>
          <a:p xmlns:a="http://schemas.openxmlformats.org/drawingml/2006/main">
            <a:r>
              <a:t>[Sources]</a:t>
            </a:r>
          </a:p>
          <a:p xmlns:a="http://schemas.openxmlformats.org/drawingml/2006/main">
            <a:r>
              <a:t>- /workspace/scratch/f15a04397186/README.md</a:t>
            </a:r>
          </a:p>
          <a:p xmlns:a="http://schemas.openxmlformats.org/drawingml/2006/main">
            <a:r>
              <a:t>- /workspace/scratch/f15a04397186/assets/screenshots/01-login.png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was not simply to add another scanner. Bandit can surface valuable clues, but a beginner may still ask: is the clue supported by the code, why does it matter, and what should I change? I also did not want to send an entire repository to a general model and treat the response as a verdict. SecureRepo AI focuses on the space between static evidence and a practical developer decision.</a:t>
            </a:r>
          </a:p>
          <a:p xmlns:a="http://schemas.openxmlformats.org/drawingml/2006/main">
            <a:r>
              <a:t>[Sources]</a:t>
            </a:r>
          </a:p>
          <a:p xmlns:a="http://schemas.openxmlformats.org/drawingml/2006/main">
            <a:r>
              <a:t>- /workspace/scratch/f15a04397186/README.md</a:t>
            </a:r>
          </a:p>
          <a:p xmlns:a="http://schemas.openxmlformats.org/drawingml/2006/main">
            <a:r>
              <a:t>- /workspace/scratch/f15a04397186/assets/screenshots/08-multiple-findings.png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started with model behavior. I fine-tuned Qwen3-4B-Instruct-2507 with Unsloth and QLoRA on 1,200 curated synthetic examples: 800 vulnerable and 400 safe, across 20 Python security families. I then uploaded the trained LoRA adapter to Hugging Face. After that, I productized it with Bandit evidence, FAISS retrieval, Pydantic schema validation, a FastAPI backend, and the Streamlit experience.</a:t>
            </a:r>
          </a:p>
          <a:p xmlns:a="http://schemas.openxmlformats.org/drawingml/2006/main">
            <a:r>
              <a:t>[Sources]</a:t>
            </a:r>
          </a:p>
          <a:p xmlns:a="http://schemas.openxmlformats.org/drawingml/2006/main">
            <a:r>
              <a:t>- /workspace/scratch/f15a04397186/SecureRepo_AI_Dataset/manifest.json</a:t>
            </a:r>
          </a:p>
          <a:p xmlns:a="http://schemas.openxmlformats.org/drawingml/2006/main">
            <a:r>
              <a:t>- /workspace/scratch/f15a04397186/SecureRepo_AI_Dataset/dataset_card.md</a:t>
            </a:r>
          </a:p>
          <a:p xmlns:a="http://schemas.openxmlformats.org/drawingml/2006/main">
            <a:r>
              <a:t>- https://huggingface.co/AminTariq/securerepo-qwen3-4b-lora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public GitHub URL enters the Streamlit app and reaches the Kaggle FastAPI backend. SecureRepo validates the URL, creates a temporary shallow clone, discovers readable Python files, and runs Bandit to produce static clues and prioritize likely risky files. For each selected file, it prepares focused code context and retrieves relevant guidance from FAISS. That evidence goes to my fine-tuned Qwen model, which explains the issue and proposes a safer change. Pydantic validates the output structure, while FastAPI streams progress and the assembled report to Streamlit. Repository code is never executed.</a:t>
            </a:r>
          </a:p>
          <a:p xmlns:a="http://schemas.openxmlformats.org/drawingml/2006/main">
            <a:r>
              <a:t>[Sources]</a:t>
            </a:r>
          </a:p>
          <a:p xmlns:a="http://schemas.openxmlformats.org/drawingml/2006/main">
            <a:r>
              <a:t>- /workspace/scratch/f15a04397186/SecureRepo_AI_Backend_Only.ipynb</a:t>
            </a:r>
          </a:p>
          <a:p xmlns:a="http://schemas.openxmlformats.org/drawingml/2006/main">
            <a:r>
              <a:t>- /workspace/scratch/f15a04397186/securerepo_frontend/app.py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 end stays intentionally simple. I paste a public GitHub repository URL, choose how many Python files to review, and start the scan. The local Streamlit app sends the request to the Kaggle backend. Bandit runs first, then newline-delimited events stream back live, so the user can follow progress rather than waiting on a blank page.</a:t>
            </a:r>
          </a:p>
          <a:p xmlns:a="http://schemas.openxmlformats.org/drawingml/2006/main">
            <a:r>
              <a:t>[Sources]</a:t>
            </a:r>
          </a:p>
          <a:p xmlns:a="http://schemas.openxmlformats.org/drawingml/2006/main">
            <a:r>
              <a:t>- /workspace/scratch/f15a04397186/assets/screenshots/03-new-repository-scan.png</a:t>
            </a:r>
          </a:p>
          <a:p xmlns:a="http://schemas.openxmlformats.org/drawingml/2006/main">
            <a:r>
              <a:t>- /workspace/scratch/f15a04397186/SecureRepo_AI_Backend_Only.ipynb</a:t>
            </a:r>
          </a:p>
          <a:p xmlns:a="http://schemas.openxmlformats.org/drawingml/2006/main">
            <a:r>
              <a:t>- /workspace/scratch/f15a04397186/securerepo_frontend/app.py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product becomes actionable. The finding keeps the exact file, line range, and vulnerable code visible, so the output stays tied to evidence. The model then explains the impact and proposes safer replacement code. The developer can move through evidence, analysis, the recommended fix, and verification without losing the source context that created the finding.</a:t>
            </a:r>
          </a:p>
          <a:p xmlns:a="http://schemas.openxmlformats.org/drawingml/2006/main">
            <a:r>
              <a:t>[Sources]</a:t>
            </a:r>
          </a:p>
          <a:p xmlns:a="http://schemas.openxmlformats.org/drawingml/2006/main">
            <a:r>
              <a:t>- /workspace/scratch/f15a04397186/assets/screenshots/04-live-vulnerability-evidence.png</a:t>
            </a:r>
          </a:p>
          <a:p xmlns:a="http://schemas.openxmlformats.org/drawingml/2006/main">
            <a:r>
              <a:t>- /workspace/scratch/f15a04397186/assets/screenshots/06-recommended-fix.png</a:t>
            </a:r>
          </a:p>
          <a:p xmlns:a="http://schemas.openxmlformats.org/drawingml/2006/main">
            <a:r>
              <a:t>- /workspace/scratch/f15a04397186/securerepo_frontend/app.py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view aggregates the reviewed files into one report. It shows the repository risk score, files analyzed, severity summary, and AI-supported findings with their evidence and proposed remediation. Reports are stored locally and can be exported as JSON. I describe the result as schema-validated: Pydantic checks that the required fields and types are present, but it does not prove that every finding is objectively true.</a:t>
            </a:r>
          </a:p>
          <a:p xmlns:a="http://schemas.openxmlformats.org/drawingml/2006/main">
            <a:r>
              <a:t>[Sources]</a:t>
            </a:r>
          </a:p>
          <a:p xmlns:a="http://schemas.openxmlformats.org/drawingml/2006/main">
            <a:r>
              <a:t>- /workspace/scratch/f15a04397186/assets/screenshots/11-validated-security-report.png</a:t>
            </a:r>
          </a:p>
          <a:p xmlns:a="http://schemas.openxmlformats.org/drawingml/2006/main">
            <a:r>
              <a:t>- /workspace/scratch/f15a04397186/securerepo_frontend/app.py</a:t>
            </a:r>
          </a:p>
          <a:p xmlns:a="http://schemas.openxmlformats.org/drawingml/2006/main">
            <a:r>
              <a:t>- /workspace/scratch/f15a04397186/README.md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SecureRepo AI is a working end-to-end prototype, but the claim stays deliberately limited. It is a first-pass review and learning tool—not a professional audit or proof that a repository is secure. The next steps are a formal benchmark, support for more languages and private repositories, and a permanent backend. The principle is simple: review sooner, and keep human security judgment in the loop.</a:t>
            </a:r>
          </a:p>
          <a:p xmlns:a="http://schemas.openxmlformats.org/drawingml/2006/main">
            <a:r>
              <a:t>[Sources]</a:t>
            </a:r>
          </a:p>
          <a:p xmlns:a="http://schemas.openxmlformats.org/drawingml/2006/main">
            <a:r>
              <a:t>- /workspace/scratch/f15a04397186/README.md</a:t>
            </a:r>
          </a:p>
          <a:p xmlns:a="http://schemas.openxmlformats.org/drawingml/2006/main">
            <a:r>
              <a:t>- /workspace/scratch/f15a04397186/SecureRepo_AI_Dataset/dataset_card.md</a:t>
            </a:r>
          </a:p>
          <a:p xmlns:a="http://schemas.openxmlformats.org/drawingml/2006/main">
            <a:r>
              <a:t>- /workspace/scratch/f15a04397186/assets/screenshots/12-system-settings.png</a:t>
            </a:r>
          </a:p>
          <a:p xmlns:a="http://schemas.openxmlformats.org/drawingml/2006/main">
            <a:r>
              <a:t>- https://github.com/AminTariq/SecureRepo-AI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40d8ca13fd44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d0c54429f34c4a" /><Relationship Type="http://schemas.openxmlformats.org/officeDocument/2006/relationships/slideLayout" Target="/ppt/slideLayouts/slideLayout1.xml" Id="R87b161d280eb47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b161d280eb47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2f75f16b244647" /><Relationship Type="http://schemas.openxmlformats.org/officeDocument/2006/relationships/image" Target="/ppt/media/image.png" Id="R0f0f41472bdc41ac" /><Relationship Type="http://schemas.openxmlformats.org/officeDocument/2006/relationships/notesSlide" Target="/ppt/notesSlides/notesSlide1.xml" Id="R0e410a838e354c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5d255968c14349" /><Relationship Type="http://schemas.openxmlformats.org/officeDocument/2006/relationships/image" Target="/ppt/media/image2.png" Id="Rcfc46fc042c9465f" /><Relationship Type="http://schemas.openxmlformats.org/officeDocument/2006/relationships/notesSlide" Target="/ppt/notesSlides/notesSlide2.xml" Id="R258c62a360b744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e41bce98514ba8" /><Relationship Type="http://schemas.openxmlformats.org/officeDocument/2006/relationships/notesSlide" Target="/ppt/notesSlides/notesSlide3.xml" Id="R2847758993ab48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d556b0561f4b55" /><Relationship Type="http://schemas.openxmlformats.org/officeDocument/2006/relationships/notesSlide" Target="/ppt/notesSlides/notesSlide4.xml" Id="Rc2ceb6e96cd346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30e125043d41a5" /><Relationship Type="http://schemas.openxmlformats.org/officeDocument/2006/relationships/image" Target="/ppt/media/image3.png" Id="Rcc4840d919514b08" /><Relationship Type="http://schemas.openxmlformats.org/officeDocument/2006/relationships/notesSlide" Target="/ppt/notesSlides/notesSlide5.xml" Id="R9cd10654886444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6df4915d5447ed" /><Relationship Type="http://schemas.openxmlformats.org/officeDocument/2006/relationships/image" Target="/ppt/media/image4.png" Id="R563721f6f75d4d58" /><Relationship Type="http://schemas.openxmlformats.org/officeDocument/2006/relationships/image" Target="/ppt/media/image5.png" Id="Rbf485198c1074628" /><Relationship Type="http://schemas.openxmlformats.org/officeDocument/2006/relationships/notesSlide" Target="/ppt/notesSlides/notesSlide6.xml" Id="R215c5242aabd44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0584aa2ab34be5" /><Relationship Type="http://schemas.openxmlformats.org/officeDocument/2006/relationships/image" Target="/ppt/media/image6.png" Id="R92e28c45944c4aff" /><Relationship Type="http://schemas.openxmlformats.org/officeDocument/2006/relationships/notesSlide" Target="/ppt/notesSlides/notesSlide7.xml" Id="Rb741444e131e48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227efb0c1542a2" /><Relationship Type="http://schemas.openxmlformats.org/officeDocument/2006/relationships/image" Target="/ppt/media/image7.png" Id="R61a6dac9bf8a410d" /><Relationship Type="http://schemas.openxmlformats.org/officeDocument/2006/relationships/notesSlide" Target="/ppt/notesSlides/notesSlide8.xml" Id="R69974edc25854d2a" /></Relationships>
</file>

<file path=ppt/slides/slide1.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49031D13-4224-4B3A-A14D-030F447BCDD2}"/>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05447C20-C311-4963-B4DD-13B084F7B995}"/>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4F1F557B-4AEA-462D-A3CA-4643987BC36A}"/>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1">
            <a:extLst xmlns:a="http://schemas.openxmlformats.org/drawingml/2006/main">
              <a:ext uri="{FF2B5EF4-FFF2-40B4-BE49-F238E27FC236}">
                <a16:creationId xmlns:a16="http://schemas.microsoft.com/office/drawing/2014/main" id="{6D8BC197-319A-4BBB-85EB-3F19B3885FF7}"/>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OPENING</a:t>
            </a:r>
          </a:p>
        </p:txBody>
      </p:sp>
      <p:sp>
        <p:nvSpPr>
          <p:cNvPr id="5" name="chrome-event-1">
            <a:extLst xmlns:a="http://schemas.openxmlformats.org/drawingml/2006/main">
              <a:ext uri="{FF2B5EF4-FFF2-40B4-BE49-F238E27FC236}">
                <a16:creationId xmlns:a16="http://schemas.microsoft.com/office/drawing/2014/main" id="{FCD4A212-405D-4C16-BB3E-61783166DD60}"/>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1">
            <a:extLst xmlns:a="http://schemas.openxmlformats.org/drawingml/2006/main">
              <a:ext uri="{FF2B5EF4-FFF2-40B4-BE49-F238E27FC236}">
                <a16:creationId xmlns:a16="http://schemas.microsoft.com/office/drawing/2014/main" id="{E57B42C6-FD0D-440F-B00E-BB5BA564FF6F}"/>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1">
            <a:extLst xmlns:a="http://schemas.openxmlformats.org/drawingml/2006/main">
              <a:ext uri="{FF2B5EF4-FFF2-40B4-BE49-F238E27FC236}">
                <a16:creationId xmlns:a16="http://schemas.microsoft.com/office/drawing/2014/main" id="{7EF00251-6D83-41AE-AEE8-4B3D3CA50A43}"/>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1">
            <a:extLst xmlns:a="http://schemas.openxmlformats.org/drawingml/2006/main">
              <a:ext uri="{FF2B5EF4-FFF2-40B4-BE49-F238E27FC236}">
                <a16:creationId xmlns:a16="http://schemas.microsoft.com/office/drawing/2014/main" id="{14EAD261-8718-4C9B-8688-8FCDF591DABD}"/>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01</a:t>
            </a:r>
          </a:p>
        </p:txBody>
      </p:sp>
      <p:sp>
        <p:nvSpPr>
          <p:cNvPr id="9" name="cover-eyebrow">
            <a:extLst xmlns:a="http://schemas.openxmlformats.org/drawingml/2006/main">
              <a:ext uri="{FF2B5EF4-FFF2-40B4-BE49-F238E27FC236}">
                <a16:creationId xmlns:a16="http://schemas.microsoft.com/office/drawing/2014/main" id="{5D122FAE-BCB3-4A36-BA63-99D0561B6CEA}"/>
              </a:ext>
            </a:extLst>
          </p:cNvPr>
          <p:cNvSpPr>
            <a:spLocks xmlns:a="http://schemas.openxmlformats.org/drawingml/2006/main" noGrp="1"/>
          </p:cNvSpPr>
          <p:nvPr/>
        </p:nvSpPr>
        <p:spPr>
          <a:xfrm xmlns:a="http://schemas.openxmlformats.org/drawingml/2006/main">
            <a:off x="514350" y="1066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5DFF2"/>
                </a:solidFill>
                <a:latin typeface="Courier New"/>
                <a:ea typeface="Courier New"/>
                <a:cs typeface="Courier New"/>
              </a:defRPr>
            </a:pPr>
            <a:r>
              <a:rPr sz="1050" b="1">
                <a:solidFill>
                  <a:srgbClr val="55DFF2"/>
                </a:solidFill>
                <a:latin typeface="Courier New"/>
                <a:ea typeface="Courier New"/>
                <a:cs typeface="Courier New"/>
              </a:rPr>
              <a:t>AI-POWERED PYTHON SECURITY REVIEW</a:t>
            </a:r>
          </a:p>
        </p:txBody>
      </p:sp>
      <p:sp>
        <p:nvSpPr>
          <p:cNvPr id="10" name="cover-title">
            <a:extLst xmlns:a="http://schemas.openxmlformats.org/drawingml/2006/main">
              <a:ext uri="{FF2B5EF4-FFF2-40B4-BE49-F238E27FC236}">
                <a16:creationId xmlns:a16="http://schemas.microsoft.com/office/drawing/2014/main" id="{74F087D4-65EB-4443-AD68-5D1D390CA365}"/>
              </a:ext>
            </a:extLst>
          </p:cNvPr>
          <p:cNvSpPr>
            <a:spLocks xmlns:a="http://schemas.openxmlformats.org/drawingml/2006/main" noGrp="1"/>
          </p:cNvSpPr>
          <p:nvPr/>
        </p:nvSpPr>
        <p:spPr>
          <a:xfrm xmlns:a="http://schemas.openxmlformats.org/drawingml/2006/main">
            <a:off x="514350" y="1438275"/>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650" b="1">
                <a:solidFill>
                  <a:srgbClr val="EDF6FF"/>
                </a:solidFill>
                <a:latin typeface="Arial"/>
                <a:ea typeface="Arial"/>
                <a:cs typeface="Arial"/>
              </a:defRPr>
            </a:pPr>
            <a:r>
              <a:rPr sz="4650" b="1">
                <a:solidFill>
                  <a:srgbClr val="EDF6FF"/>
                </a:solidFill>
                <a:latin typeface="Arial"/>
                <a:ea typeface="Arial"/>
                <a:cs typeface="Arial"/>
              </a:rPr>
              <a:t>SecureRepo AI</a:t>
            </a:r>
          </a:p>
        </p:txBody>
      </p:sp>
      <p:sp>
        <p:nvSpPr>
          <p:cNvPr id="11" name="cover-subtitle">
            <a:extLst xmlns:a="http://schemas.openxmlformats.org/drawingml/2006/main">
              <a:ext uri="{FF2B5EF4-FFF2-40B4-BE49-F238E27FC236}">
                <a16:creationId xmlns:a16="http://schemas.microsoft.com/office/drawing/2014/main" id="{1825E188-A3B1-4C76-94A0-FDF58AB878C9}"/>
              </a:ext>
            </a:extLst>
          </p:cNvPr>
          <p:cNvSpPr>
            <a:spLocks xmlns:a="http://schemas.openxmlformats.org/drawingml/2006/main" noGrp="1"/>
          </p:cNvSpPr>
          <p:nvPr/>
        </p:nvSpPr>
        <p:spPr>
          <a:xfrm xmlns:a="http://schemas.openxmlformats.org/drawingml/2006/main">
            <a:off x="514350" y="2352675"/>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EDF6FF"/>
                </a:solidFill>
                <a:latin typeface="Arial"/>
                <a:ea typeface="Arial"/>
                <a:cs typeface="Arial"/>
              </a:defRPr>
            </a:pPr>
            <a:r>
              <a:rPr sz="2250" b="1">
                <a:solidFill>
                  <a:srgbClr val="EDF6FF"/>
                </a:solidFill>
                <a:latin typeface="Arial"/>
                <a:ea typeface="Arial"/>
                <a:cs typeface="Arial"/>
              </a:rPr>
              <a:t>Find the security flaw before an attacker does.</a:t>
            </a:r>
          </a:p>
        </p:txBody>
      </p:sp>
      <p:sp>
        <p:nvSpPr>
          <p:cNvPr id="12" name="cover-description">
            <a:extLst xmlns:a="http://schemas.openxmlformats.org/drawingml/2006/main">
              <a:ext uri="{FF2B5EF4-FFF2-40B4-BE49-F238E27FC236}">
                <a16:creationId xmlns:a16="http://schemas.microsoft.com/office/drawing/2014/main" id="{878B2A4A-7307-4394-B916-38632FAAC1F3}"/>
              </a:ext>
            </a:extLst>
          </p:cNvPr>
          <p:cNvSpPr>
            <a:spLocks xmlns:a="http://schemas.openxmlformats.org/drawingml/2006/main" noGrp="1"/>
          </p:cNvSpPr>
          <p:nvPr/>
        </p:nvSpPr>
        <p:spPr>
          <a:xfrm xmlns:a="http://schemas.openxmlformats.org/drawingml/2006/main">
            <a:off x="514350" y="3638550"/>
            <a:ext cx="4905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879DB3"/>
                </a:solidFill>
                <a:latin typeface="Arial"/>
                <a:ea typeface="Arial"/>
                <a:cs typeface="Arial"/>
              </a:defRPr>
            </a:pPr>
            <a:r>
              <a:rPr sz="1500" b="0">
                <a:solidFill>
                  <a:srgbClr val="879DB3"/>
                </a:solidFill>
                <a:latin typeface="Arial"/>
                <a:ea typeface="Arial"/>
                <a:cs typeface="Arial"/>
              </a:rPr>
              <a:t>An explainable first-pass reviewer for public Python repositories—grounded in scanner evidence, retrieved guidance, and a fine-tuned open-source model.</a:t>
            </a:r>
          </a:p>
        </p:txBody>
      </p:sp>
      <p:sp>
        <p:nvSpPr>
          <p:cNvPr id="13" name="cover-image-panel">
            <a:extLst xmlns:a="http://schemas.openxmlformats.org/drawingml/2006/main">
              <a:ext uri="{FF2B5EF4-FFF2-40B4-BE49-F238E27FC236}">
                <a16:creationId xmlns:a16="http://schemas.microsoft.com/office/drawing/2014/main" id="{64DE3EA2-64B9-49AF-AA1A-A27C4E132DAD}"/>
              </a:ext>
            </a:extLst>
          </p:cNvPr>
          <p:cNvSpPr>
            <a:spLocks xmlns:a="http://schemas.openxmlformats.org/drawingml/2006/main" noGrp="1"/>
          </p:cNvSpPr>
          <p:nvPr/>
        </p:nvSpPr>
        <p:spPr>
          <a:xfrm xmlns:a="http://schemas.openxmlformats.org/drawingml/2006/main">
            <a:off x="5953125" y="1000125"/>
            <a:ext cx="5762625" cy="3505200"/>
          </a:xfrm>
          <a:prstGeom xmlns:a="http://schemas.openxmlformats.org/drawingml/2006/main" prst="roundRect">
            <a:avLst>
              <a:gd name="adj" fmla="val 2174"/>
            </a:avLst>
          </a:prstGeom>
          <a:solidFill xmlns:a="http://schemas.openxmlformats.org/drawingml/2006/main">
            <a:srgbClr val="0C1A2C"/>
          </a:solidFill>
          <a:ln xmlns:a="http://schemas.openxmlformats.org/drawingml/2006/main" w="9525">
            <a:solidFill>
              <a:srgbClr val="20364F"/>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f0f41472bdc41ac"/>
          <a:stretch xmlns:a="http://schemas.openxmlformats.org/drawingml/2006/main"/>
        </p:blipFill>
        <p:spPr>
          <a:xfrm xmlns:a="http://schemas.openxmlformats.org/drawingml/2006/main">
            <a:off x="6105525" y="1505710"/>
            <a:ext cx="5457825" cy="2494030"/>
          </a:xfrm>
          <a:prstGeom xmlns:a="http://schemas.openxmlformats.org/drawingml/2006/main" prst="roundRect">
            <a:avLst>
              <a:gd name="adj" fmla="val 2381"/>
            </a:avLst>
          </a:prstGeom>
        </p:spPr>
      </p:pic>
      <p:sp>
        <p:nvSpPr>
          <p:cNvPr id="15" name="cover-stack-panel">
            <a:extLst xmlns:a="http://schemas.openxmlformats.org/drawingml/2006/main">
              <a:ext uri="{FF2B5EF4-FFF2-40B4-BE49-F238E27FC236}">
                <a16:creationId xmlns:a16="http://schemas.microsoft.com/office/drawing/2014/main" id="{867BDF26-5AB2-4E75-A301-C9D6309E0A54}"/>
              </a:ext>
            </a:extLst>
          </p:cNvPr>
          <p:cNvSpPr>
            <a:spLocks xmlns:a="http://schemas.openxmlformats.org/drawingml/2006/main" noGrp="1"/>
          </p:cNvSpPr>
          <p:nvPr/>
        </p:nvSpPr>
        <p:spPr>
          <a:xfrm xmlns:a="http://schemas.openxmlformats.org/drawingml/2006/main">
            <a:off x="5953125" y="4743450"/>
            <a:ext cx="5762625" cy="1066800"/>
          </a:xfrm>
          <a:prstGeom xmlns:a="http://schemas.openxmlformats.org/drawingml/2006/main" prst="roundRect">
            <a:avLst>
              <a:gd name="adj" fmla="val 7143"/>
            </a:avLst>
          </a:prstGeom>
          <a:solidFill xmlns:a="http://schemas.openxmlformats.org/drawingml/2006/main">
            <a:srgbClr val="0C1A2C"/>
          </a:solidFill>
          <a:ln xmlns:a="http://schemas.openxmlformats.org/drawingml/2006/main" w="9525">
            <a:solidFill>
              <a:srgbClr val="20364F"/>
            </a:solidFill>
            <a:prstDash val="solid"/>
          </a:ln>
        </p:spPr>
      </p:sp>
      <p:sp>
        <p:nvSpPr>
          <p:cNvPr id="16" name="cover-status">
            <a:extLst xmlns:a="http://schemas.openxmlformats.org/drawingml/2006/main">
              <a:ext uri="{FF2B5EF4-FFF2-40B4-BE49-F238E27FC236}">
                <a16:creationId xmlns:a16="http://schemas.microsoft.com/office/drawing/2014/main" id="{4919D2B9-B83A-47D5-8EC3-001683D9E2CF}"/>
              </a:ext>
            </a:extLst>
          </p:cNvPr>
          <p:cNvSpPr>
            <a:spLocks xmlns:a="http://schemas.openxmlformats.org/drawingml/2006/main" noGrp="1"/>
          </p:cNvSpPr>
          <p:nvPr/>
        </p:nvSpPr>
        <p:spPr>
          <a:xfrm xmlns:a="http://schemas.openxmlformats.org/drawingml/2006/main">
            <a:off x="6200775" y="4981575"/>
            <a:ext cx="95250" cy="95250"/>
          </a:xfrm>
          <a:prstGeom xmlns:a="http://schemas.openxmlformats.org/drawingml/2006/main" prst="ellipse">
            <a:avLst/>
          </a:prstGeom>
          <a:solidFill xmlns:a="http://schemas.openxmlformats.org/drawingml/2006/main">
            <a:srgbClr val="5AE0AA"/>
          </a:solidFill>
          <a:ln xmlns:a="http://schemas.openxmlformats.org/drawingml/2006/main" w="0">
            <a:solidFill>
              <a:srgbClr val="5AE0AA"/>
            </a:solidFill>
            <a:prstDash val="solid"/>
          </a:ln>
        </p:spPr>
      </p:sp>
      <p:sp>
        <p:nvSpPr>
          <p:cNvPr id="17" name="cover-working-label">
            <a:extLst xmlns:a="http://schemas.openxmlformats.org/drawingml/2006/main">
              <a:ext uri="{FF2B5EF4-FFF2-40B4-BE49-F238E27FC236}">
                <a16:creationId xmlns:a16="http://schemas.microsoft.com/office/drawing/2014/main" id="{7438A850-9A8B-4C96-AB36-B7830C09B2A7}"/>
              </a:ext>
            </a:extLst>
          </p:cNvPr>
          <p:cNvSpPr>
            <a:spLocks xmlns:a="http://schemas.openxmlformats.org/drawingml/2006/main" noGrp="1"/>
          </p:cNvSpPr>
          <p:nvPr/>
        </p:nvSpPr>
        <p:spPr>
          <a:xfrm xmlns:a="http://schemas.openxmlformats.org/drawingml/2006/main">
            <a:off x="6391275" y="4933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AE0AA"/>
                </a:solidFill>
                <a:latin typeface="Courier New"/>
                <a:ea typeface="Courier New"/>
                <a:cs typeface="Courier New"/>
              </a:defRPr>
            </a:pPr>
            <a:r>
              <a:rPr sz="1050" b="1">
                <a:solidFill>
                  <a:srgbClr val="5AE0AA"/>
                </a:solidFill>
                <a:latin typeface="Courier New"/>
                <a:ea typeface="Courier New"/>
                <a:cs typeface="Courier New"/>
              </a:rPr>
              <a:t>WORKING END-TO-END PROTOTYPE</a:t>
            </a:r>
          </a:p>
        </p:txBody>
      </p:sp>
      <p:sp>
        <p:nvSpPr>
          <p:cNvPr id="18" name="cover-stack">
            <a:extLst xmlns:a="http://schemas.openxmlformats.org/drawingml/2006/main">
              <a:ext uri="{FF2B5EF4-FFF2-40B4-BE49-F238E27FC236}">
                <a16:creationId xmlns:a16="http://schemas.microsoft.com/office/drawing/2014/main" id="{0555B775-D587-4321-BADB-E4F0A9CDDC57}"/>
              </a:ext>
            </a:extLst>
          </p:cNvPr>
          <p:cNvSpPr>
            <a:spLocks xmlns:a="http://schemas.openxmlformats.org/drawingml/2006/main" noGrp="1"/>
          </p:cNvSpPr>
          <p:nvPr/>
        </p:nvSpPr>
        <p:spPr>
          <a:xfrm xmlns:a="http://schemas.openxmlformats.org/drawingml/2006/main">
            <a:off x="6200775" y="5334000"/>
            <a:ext cx="52673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879DB3"/>
                </a:solidFill>
                <a:latin typeface="Courier New"/>
                <a:ea typeface="Courier New"/>
                <a:cs typeface="Courier New"/>
              </a:defRPr>
            </a:pPr>
            <a:r>
              <a:rPr sz="1125" b="1">
                <a:solidFill>
                  <a:srgbClr val="879DB3"/>
                </a:solidFill>
                <a:latin typeface="Courier New"/>
                <a:ea typeface="Courier New"/>
                <a:cs typeface="Courier New"/>
              </a:rPr>
              <a:t>BANDIT  →  FAISS RAG  →  FINE-TUNED QWEN  →  STREAMLIT</a:t>
            </a:r>
          </a:p>
        </p:txBody>
      </p:sp>
      <p:sp>
        <p:nvSpPr>
          <p:cNvPr id="19" name="cover-presenter">
            <a:extLst xmlns:a="http://schemas.openxmlformats.org/drawingml/2006/main">
              <a:ext uri="{FF2B5EF4-FFF2-40B4-BE49-F238E27FC236}">
                <a16:creationId xmlns:a16="http://schemas.microsoft.com/office/drawing/2014/main" id="{2AC6BF41-1D46-4381-8489-311D6CACE823}"/>
              </a:ext>
            </a:extLst>
          </p:cNvPr>
          <p:cNvSpPr>
            <a:spLocks xmlns:a="http://schemas.openxmlformats.org/drawingml/2006/main" noGrp="1"/>
          </p:cNvSpPr>
          <p:nvPr/>
        </p:nvSpPr>
        <p:spPr>
          <a:xfrm xmlns:a="http://schemas.openxmlformats.org/drawingml/2006/main">
            <a:off x="514350" y="523875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879DB3"/>
                </a:solidFill>
                <a:latin typeface="Courier New"/>
                <a:ea typeface="Courier New"/>
                <a:cs typeface="Courier New"/>
              </a:defRPr>
            </a:pPr>
            <a:r>
              <a:rPr sz="1200" b="1">
                <a:solidFill>
                  <a:srgbClr val="879DB3"/>
                </a:solidFill>
                <a:latin typeface="Courier New"/>
                <a:ea typeface="Courier New"/>
                <a:cs typeface="Courier New"/>
              </a:rPr>
              <a:t>AMIN TARIG AMIN ABBAS</a:t>
            </a:r>
          </a:p>
          <a:p xmlns:a="http://schemas.openxmlformats.org/drawingml/2006/main">
            <a:pPr algn="l">
              <a:defRPr sz="1200" b="1">
                <a:solidFill>
                  <a:srgbClr val="879DB3"/>
                </a:solidFill>
                <a:latin typeface="Courier New"/>
                <a:ea typeface="Courier New"/>
                <a:cs typeface="Courier New"/>
              </a:defRPr>
            </a:pPr>
            <a:r>
              <a:rPr sz="1200" b="1">
                <a:solidFill>
                  <a:srgbClr val="879DB3"/>
                </a:solidFill>
                <a:latin typeface="Courier New"/>
                <a:ea typeface="Courier New"/>
                <a:cs typeface="Courier New"/>
              </a:rPr>
              <a:t>Tips Hindawi Challenge · June–July 2026</a:t>
            </a:r>
          </a:p>
        </p:txBody>
      </p:sp>
    </p:spTree>
    <p:extLst>
      <p:ext uri="{BB962C8B-B14F-4D97-AF65-F5344CB8AC3E}">
        <p14:creationId xmlns:p14="http://schemas.microsoft.com/office/powerpoint/2010/main" val="258505606"/>
      </p:ext>
    </p:extLst>
  </p:cSld>
</p:sld>
</file>

<file path=ppt/slides/slide2.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5B0ACFFF-610C-4A63-96AF-65A1F331D749}"/>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85A0541E-2D4C-467B-B23F-DE9CE2C99013}"/>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D0F219E8-5205-45B7-B7FF-1CE07DD239CC}"/>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2">
            <a:extLst xmlns:a="http://schemas.openxmlformats.org/drawingml/2006/main">
              <a:ext uri="{FF2B5EF4-FFF2-40B4-BE49-F238E27FC236}">
                <a16:creationId xmlns:a16="http://schemas.microsoft.com/office/drawing/2014/main" id="{02FAEEC9-7CBB-459F-81A9-F206BEB1B857}"/>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THE PROBLEM</a:t>
            </a:r>
          </a:p>
        </p:txBody>
      </p:sp>
      <p:sp>
        <p:nvSpPr>
          <p:cNvPr id="5" name="chrome-event-2">
            <a:extLst xmlns:a="http://schemas.openxmlformats.org/drawingml/2006/main">
              <a:ext uri="{FF2B5EF4-FFF2-40B4-BE49-F238E27FC236}">
                <a16:creationId xmlns:a16="http://schemas.microsoft.com/office/drawing/2014/main" id="{F7C0AF36-9E35-45FC-8935-F07B225DEED8}"/>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2">
            <a:extLst xmlns:a="http://schemas.openxmlformats.org/drawingml/2006/main">
              <a:ext uri="{FF2B5EF4-FFF2-40B4-BE49-F238E27FC236}">
                <a16:creationId xmlns:a16="http://schemas.microsoft.com/office/drawing/2014/main" id="{0FABA2A9-B6AD-4962-9172-20BAF81235FE}"/>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2">
            <a:extLst xmlns:a="http://schemas.openxmlformats.org/drawingml/2006/main">
              <a:ext uri="{FF2B5EF4-FFF2-40B4-BE49-F238E27FC236}">
                <a16:creationId xmlns:a16="http://schemas.microsoft.com/office/drawing/2014/main" id="{956CF214-19E5-4F3C-B564-7FBFAC83E784}"/>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2">
            <a:extLst xmlns:a="http://schemas.openxmlformats.org/drawingml/2006/main">
              <a:ext uri="{FF2B5EF4-FFF2-40B4-BE49-F238E27FC236}">
                <a16:creationId xmlns:a16="http://schemas.microsoft.com/office/drawing/2014/main" id="{309CE000-D005-46C5-A6D3-26E53030D15D}"/>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02</a:t>
            </a:r>
          </a:p>
        </p:txBody>
      </p:sp>
      <p:sp>
        <p:nvSpPr>
          <p:cNvPr id="9" name="problem-kicker">
            <a:extLst xmlns:a="http://schemas.openxmlformats.org/drawingml/2006/main">
              <a:ext uri="{FF2B5EF4-FFF2-40B4-BE49-F238E27FC236}">
                <a16:creationId xmlns:a16="http://schemas.microsoft.com/office/drawing/2014/main" id="{30FA4B97-DD00-4C93-8B85-951D9BDE27AD}"/>
              </a:ext>
            </a:extLst>
          </p:cNvPr>
          <p:cNvSpPr>
            <a:spLocks xmlns:a="http://schemas.openxmlformats.org/drawingml/2006/main" noGrp="1"/>
          </p:cNvSpPr>
          <p:nvPr/>
        </p:nvSpPr>
        <p:spPr>
          <a:xfrm xmlns:a="http://schemas.openxmlformats.org/drawingml/2006/main">
            <a:off x="523875" y="1000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5DFF2"/>
                </a:solidFill>
                <a:latin typeface="Courier New"/>
                <a:ea typeface="Courier New"/>
                <a:cs typeface="Courier New"/>
              </a:defRPr>
            </a:pPr>
            <a:r>
              <a:rPr sz="1050" b="1">
                <a:solidFill>
                  <a:srgbClr val="55DFF2"/>
                </a:solidFill>
                <a:latin typeface="Courier New"/>
                <a:ea typeface="Courier New"/>
                <a:cs typeface="Courier New"/>
              </a:rPr>
              <a:t>THE GAP I SAW</a:t>
            </a:r>
          </a:p>
        </p:txBody>
      </p:sp>
      <p:sp>
        <p:nvSpPr>
          <p:cNvPr id="10" name="problem-title-1">
            <a:extLst xmlns:a="http://schemas.openxmlformats.org/drawingml/2006/main">
              <a:ext uri="{FF2B5EF4-FFF2-40B4-BE49-F238E27FC236}">
                <a16:creationId xmlns:a16="http://schemas.microsoft.com/office/drawing/2014/main" id="{B8C8DB05-4523-4906-944D-24805574964D}"/>
              </a:ext>
            </a:extLst>
          </p:cNvPr>
          <p:cNvSpPr>
            <a:spLocks xmlns:a="http://schemas.openxmlformats.org/drawingml/2006/main" noGrp="1"/>
          </p:cNvSpPr>
          <p:nvPr/>
        </p:nvSpPr>
        <p:spPr>
          <a:xfrm xmlns:a="http://schemas.openxmlformats.org/drawingml/2006/main">
            <a:off x="523875" y="1495425"/>
            <a:ext cx="5524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EDF6FF"/>
                </a:solidFill>
                <a:latin typeface="Arial"/>
                <a:ea typeface="Arial"/>
                <a:cs typeface="Arial"/>
              </a:defRPr>
            </a:pPr>
            <a:r>
              <a:rPr sz="3375" b="1">
                <a:solidFill>
                  <a:srgbClr val="EDF6FF"/>
                </a:solidFill>
                <a:latin typeface="Arial"/>
                <a:ea typeface="Arial"/>
                <a:cs typeface="Arial"/>
              </a:rPr>
              <a:t>Vibe coding moved faster.</a:t>
            </a:r>
          </a:p>
        </p:txBody>
      </p:sp>
      <p:sp>
        <p:nvSpPr>
          <p:cNvPr id="11" name="problem-title-2">
            <a:extLst xmlns:a="http://schemas.openxmlformats.org/drawingml/2006/main">
              <a:ext uri="{FF2B5EF4-FFF2-40B4-BE49-F238E27FC236}">
                <a16:creationId xmlns:a16="http://schemas.microsoft.com/office/drawing/2014/main" id="{68328CA8-C289-4738-A114-3EF6BECB2667}"/>
              </a:ext>
            </a:extLst>
          </p:cNvPr>
          <p:cNvSpPr>
            <a:spLocks xmlns:a="http://schemas.openxmlformats.org/drawingml/2006/main" noGrp="1"/>
          </p:cNvSpPr>
          <p:nvPr/>
        </p:nvSpPr>
        <p:spPr>
          <a:xfrm xmlns:a="http://schemas.openxmlformats.org/drawingml/2006/main">
            <a:off x="523875" y="2105025"/>
            <a:ext cx="5524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9678FF"/>
                </a:solidFill>
                <a:latin typeface="Arial"/>
                <a:ea typeface="Arial"/>
                <a:cs typeface="Arial"/>
              </a:defRPr>
            </a:pPr>
            <a:r>
              <a:rPr sz="3375" b="1">
                <a:solidFill>
                  <a:srgbClr val="9678FF"/>
                </a:solidFill>
                <a:latin typeface="Arial"/>
                <a:ea typeface="Arial"/>
                <a:cs typeface="Arial"/>
              </a:rPr>
              <a:t>Security review did not.</a:t>
            </a:r>
          </a:p>
        </p:txBody>
      </p:sp>
      <p:sp>
        <p:nvSpPr>
          <p:cNvPr id="12" name="problem-body">
            <a:extLst xmlns:a="http://schemas.openxmlformats.org/drawingml/2006/main">
              <a:ext uri="{FF2B5EF4-FFF2-40B4-BE49-F238E27FC236}">
                <a16:creationId xmlns:a16="http://schemas.microsoft.com/office/drawing/2014/main" id="{37C2577D-5FA4-49B4-B0C5-78A0C23373A9}"/>
              </a:ext>
            </a:extLst>
          </p:cNvPr>
          <p:cNvSpPr>
            <a:spLocks xmlns:a="http://schemas.openxmlformats.org/drawingml/2006/main" noGrp="1"/>
          </p:cNvSpPr>
          <p:nvPr/>
        </p:nvSpPr>
        <p:spPr>
          <a:xfrm xmlns:a="http://schemas.openxmlformats.org/drawingml/2006/main">
            <a:off x="523875" y="3048000"/>
            <a:ext cx="5048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879DB3"/>
                </a:solidFill>
                <a:latin typeface="Arial"/>
                <a:ea typeface="Arial"/>
                <a:cs typeface="Arial"/>
              </a:defRPr>
            </a:pPr>
            <a:r>
              <a:rPr sz="1725" b="0">
                <a:solidFill>
                  <a:srgbClr val="879DB3"/>
                </a:solidFill>
                <a:latin typeface="Arial"/>
                <a:ea typeface="Arial"/>
                <a:cs typeface="Arial"/>
              </a:rPr>
              <a:t>Static scanners can flag patterns. Developers still need context, prioritization, and a safe fix they can understand.</a:t>
            </a:r>
          </a:p>
        </p:txBody>
      </p:sp>
      <p:sp>
        <p:nvSpPr>
          <p:cNvPr id="13" name="problem-callout">
            <a:extLst xmlns:a="http://schemas.openxmlformats.org/drawingml/2006/main">
              <a:ext uri="{FF2B5EF4-FFF2-40B4-BE49-F238E27FC236}">
                <a16:creationId xmlns:a16="http://schemas.microsoft.com/office/drawing/2014/main" id="{B0B68548-A7CE-4F70-BBCC-344B877E4C4A}"/>
              </a:ext>
            </a:extLst>
          </p:cNvPr>
          <p:cNvSpPr>
            <a:spLocks xmlns:a="http://schemas.openxmlformats.org/drawingml/2006/main" noGrp="1"/>
          </p:cNvSpPr>
          <p:nvPr/>
        </p:nvSpPr>
        <p:spPr>
          <a:xfrm xmlns:a="http://schemas.openxmlformats.org/drawingml/2006/main">
            <a:off x="523875" y="4429125"/>
            <a:ext cx="5048250" cy="1095375"/>
          </a:xfrm>
          <a:prstGeom xmlns:a="http://schemas.openxmlformats.org/drawingml/2006/main" prst="roundRect">
            <a:avLst>
              <a:gd name="adj" fmla="val 6957"/>
            </a:avLst>
          </a:prstGeom>
          <a:solidFill xmlns:a="http://schemas.openxmlformats.org/drawingml/2006/main">
            <a:srgbClr val="0C1A2C"/>
          </a:solidFill>
          <a:ln xmlns:a="http://schemas.openxmlformats.org/drawingml/2006/main" w="9525">
            <a:solidFill>
              <a:srgbClr val="20364F"/>
            </a:solidFill>
            <a:prstDash val="solid"/>
          </a:ln>
        </p:spPr>
      </p:sp>
      <p:sp>
        <p:nvSpPr>
          <p:cNvPr id="14" name="problem-callout-label">
            <a:extLst xmlns:a="http://schemas.openxmlformats.org/drawingml/2006/main">
              <a:ext uri="{FF2B5EF4-FFF2-40B4-BE49-F238E27FC236}">
                <a16:creationId xmlns:a16="http://schemas.microsoft.com/office/drawing/2014/main" id="{5541741B-F31A-4510-B752-F1178F8BA69C}"/>
              </a:ext>
            </a:extLst>
          </p:cNvPr>
          <p:cNvSpPr>
            <a:spLocks xmlns:a="http://schemas.openxmlformats.org/drawingml/2006/main" noGrp="1"/>
          </p:cNvSpPr>
          <p:nvPr/>
        </p:nvSpPr>
        <p:spPr>
          <a:xfrm xmlns:a="http://schemas.openxmlformats.org/drawingml/2006/main">
            <a:off x="742950" y="4648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THE REAL PROBLEM</a:t>
            </a:r>
          </a:p>
        </p:txBody>
      </p:sp>
      <p:sp>
        <p:nvSpPr>
          <p:cNvPr id="15" name="problem-callout-copy">
            <a:extLst xmlns:a="http://schemas.openxmlformats.org/drawingml/2006/main">
              <a:ext uri="{FF2B5EF4-FFF2-40B4-BE49-F238E27FC236}">
                <a16:creationId xmlns:a16="http://schemas.microsoft.com/office/drawing/2014/main" id="{BE1483CB-CFB5-4B87-88B7-7CA959688FC8}"/>
              </a:ext>
            </a:extLst>
          </p:cNvPr>
          <p:cNvSpPr>
            <a:spLocks xmlns:a="http://schemas.openxmlformats.org/drawingml/2006/main" noGrp="1"/>
          </p:cNvSpPr>
          <p:nvPr/>
        </p:nvSpPr>
        <p:spPr>
          <a:xfrm xmlns:a="http://schemas.openxmlformats.org/drawingml/2006/main">
            <a:off x="742950" y="4953000"/>
            <a:ext cx="4524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DF6FF"/>
                </a:solidFill>
                <a:latin typeface="Arial"/>
                <a:ea typeface="Arial"/>
                <a:cs typeface="Arial"/>
              </a:defRPr>
            </a:pPr>
            <a:r>
              <a:rPr sz="1275" b="1">
                <a:solidFill>
                  <a:srgbClr val="EDF6FF"/>
                </a:solidFill>
                <a:latin typeface="Arial"/>
                <a:ea typeface="Arial"/>
                <a:cs typeface="Arial"/>
              </a:rPr>
              <a:t>Turning a scanner clue into evidence, explanation, and a reviewable remediation.</a:t>
            </a:r>
          </a:p>
        </p:txBody>
      </p:sp>
      <p:sp>
        <p:nvSpPr>
          <p:cNvPr id="16" name="problem-screenshot-panel">
            <a:extLst xmlns:a="http://schemas.openxmlformats.org/drawingml/2006/main">
              <a:ext uri="{FF2B5EF4-FFF2-40B4-BE49-F238E27FC236}">
                <a16:creationId xmlns:a16="http://schemas.microsoft.com/office/drawing/2014/main" id="{86D66892-6537-4B86-A66C-5EDE5C3FE490}"/>
              </a:ext>
            </a:extLst>
          </p:cNvPr>
          <p:cNvSpPr>
            <a:spLocks xmlns:a="http://schemas.openxmlformats.org/drawingml/2006/main" noGrp="1"/>
          </p:cNvSpPr>
          <p:nvPr/>
        </p:nvSpPr>
        <p:spPr>
          <a:xfrm xmlns:a="http://schemas.openxmlformats.org/drawingml/2006/main">
            <a:off x="6191250" y="1352550"/>
            <a:ext cx="5524500" cy="3800475"/>
          </a:xfrm>
          <a:prstGeom xmlns:a="http://schemas.openxmlformats.org/drawingml/2006/main" prst="roundRect">
            <a:avLst>
              <a:gd name="adj" fmla="val 2005"/>
            </a:avLst>
          </a:prstGeom>
          <a:solidFill xmlns:a="http://schemas.openxmlformats.org/drawingml/2006/main">
            <a:srgbClr val="0C1A2C"/>
          </a:solidFill>
          <a:ln xmlns:a="http://schemas.openxmlformats.org/drawingml/2006/main" w="9525">
            <a:solidFill>
              <a:srgbClr val="20364F"/>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c46fc042c9465f"/>
          <a:stretch xmlns:a="http://schemas.openxmlformats.org/drawingml/2006/main"/>
        </p:blipFill>
        <p:spPr>
          <a:xfrm xmlns:a="http://schemas.openxmlformats.org/drawingml/2006/main">
            <a:off x="6343650" y="1868616"/>
            <a:ext cx="5219700" cy="2768343"/>
          </a:xfrm>
          <a:prstGeom xmlns:a="http://schemas.openxmlformats.org/drawingml/2006/main" prst="roundRect">
            <a:avLst>
              <a:gd name="adj" fmla="val 2180"/>
            </a:avLst>
          </a:prstGeom>
        </p:spPr>
      </p:pic>
      <p:sp>
        <p:nvSpPr>
          <p:cNvPr id="18" name="problem-image-caption">
            <a:extLst xmlns:a="http://schemas.openxmlformats.org/drawingml/2006/main">
              <a:ext uri="{FF2B5EF4-FFF2-40B4-BE49-F238E27FC236}">
                <a16:creationId xmlns:a16="http://schemas.microsoft.com/office/drawing/2014/main" id="{1575F1E4-B4BD-4329-A931-2DD482FB1741}"/>
              </a:ext>
            </a:extLst>
          </p:cNvPr>
          <p:cNvSpPr>
            <a:spLocks xmlns:a="http://schemas.openxmlformats.org/drawingml/2006/main" noGrp="1"/>
          </p:cNvSpPr>
          <p:nvPr/>
        </p:nvSpPr>
        <p:spPr>
          <a:xfrm xmlns:a="http://schemas.openxmlformats.org/drawingml/2006/main">
            <a:off x="6191250" y="5343525"/>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879DB3"/>
                </a:solidFill>
                <a:latin typeface="Courier New"/>
                <a:ea typeface="Courier New"/>
                <a:cs typeface="Courier New"/>
              </a:defRPr>
            </a:pPr>
            <a:r>
              <a:rPr sz="975" b="1">
                <a:solidFill>
                  <a:srgbClr val="879DB3"/>
                </a:solidFill>
                <a:latin typeface="Courier New"/>
                <a:ea typeface="Courier New"/>
                <a:cs typeface="Courier New"/>
              </a:rPr>
              <a:t>SCANNER CLUES NEED CONTEXT BEFORE THEY BECOME USEFUL</a:t>
            </a:r>
          </a:p>
        </p:txBody>
      </p:sp>
    </p:spTree>
    <p:extLst>
      <p:ext uri="{BB962C8B-B14F-4D97-AF65-F5344CB8AC3E}">
        <p14:creationId xmlns:p14="http://schemas.microsoft.com/office/powerpoint/2010/main" val="1076301712"/>
      </p:ext>
    </p:extLst>
  </p:cSld>
</p:sld>
</file>

<file path=ppt/slides/slide3.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ABFEE6F6-68FB-4189-B956-17B69D3896F2}"/>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5A10409C-B738-4137-9F86-028BEE3A3492}"/>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19D944B7-B888-421B-B060-9B040F4CBBFD}"/>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3">
            <a:extLst xmlns:a="http://schemas.openxmlformats.org/drawingml/2006/main">
              <a:ext uri="{FF2B5EF4-FFF2-40B4-BE49-F238E27FC236}">
                <a16:creationId xmlns:a16="http://schemas.microsoft.com/office/drawing/2014/main" id="{C95D515A-1876-47E9-B051-F0C690F138EC}"/>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BUILD STORY</a:t>
            </a:r>
          </a:p>
        </p:txBody>
      </p:sp>
      <p:sp>
        <p:nvSpPr>
          <p:cNvPr id="5" name="chrome-event-3">
            <a:extLst xmlns:a="http://schemas.openxmlformats.org/drawingml/2006/main">
              <a:ext uri="{FF2B5EF4-FFF2-40B4-BE49-F238E27FC236}">
                <a16:creationId xmlns:a16="http://schemas.microsoft.com/office/drawing/2014/main" id="{0A5B611A-FDB1-47BD-943F-8AACBED56DB9}"/>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3">
            <a:extLst xmlns:a="http://schemas.openxmlformats.org/drawingml/2006/main">
              <a:ext uri="{FF2B5EF4-FFF2-40B4-BE49-F238E27FC236}">
                <a16:creationId xmlns:a16="http://schemas.microsoft.com/office/drawing/2014/main" id="{33049C58-CD66-4965-A81A-F6CEC5F0DE29}"/>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3">
            <a:extLst xmlns:a="http://schemas.openxmlformats.org/drawingml/2006/main">
              <a:ext uri="{FF2B5EF4-FFF2-40B4-BE49-F238E27FC236}">
                <a16:creationId xmlns:a16="http://schemas.microsoft.com/office/drawing/2014/main" id="{6D71B9F4-68B7-4856-805C-138205A059B4}"/>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3">
            <a:extLst xmlns:a="http://schemas.openxmlformats.org/drawingml/2006/main">
              <a:ext uri="{FF2B5EF4-FFF2-40B4-BE49-F238E27FC236}">
                <a16:creationId xmlns:a16="http://schemas.microsoft.com/office/drawing/2014/main" id="{DFC6FF2E-93D2-4371-8E1C-FF3CBC1013FE}"/>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03</a:t>
            </a:r>
          </a:p>
        </p:txBody>
      </p:sp>
      <p:sp>
        <p:nvSpPr>
          <p:cNvPr id="9" name="slide-eyebrow">
            <a:extLst xmlns:a="http://schemas.openxmlformats.org/drawingml/2006/main">
              <a:ext uri="{FF2B5EF4-FFF2-40B4-BE49-F238E27FC236}">
                <a16:creationId xmlns:a16="http://schemas.microsoft.com/office/drawing/2014/main" id="{4A759CAB-D4A9-4ACF-B711-0312B6C2E6C2}"/>
              </a:ext>
            </a:extLst>
          </p:cNvPr>
          <p:cNvSpPr>
            <a:spLocks xmlns:a="http://schemas.openxmlformats.org/drawingml/2006/main" noGrp="1"/>
          </p:cNvSpPr>
          <p:nvPr/>
        </p:nvSpPr>
        <p:spPr>
          <a:xfrm xmlns:a="http://schemas.openxmlformats.org/drawingml/2006/main">
            <a:off x="495300" y="6762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HOW I BUILT IT</a:t>
            </a:r>
          </a:p>
        </p:txBody>
      </p:sp>
      <p:sp>
        <p:nvSpPr>
          <p:cNvPr id="10" name="slide-title">
            <a:extLst xmlns:a="http://schemas.openxmlformats.org/drawingml/2006/main">
              <a:ext uri="{FF2B5EF4-FFF2-40B4-BE49-F238E27FC236}">
                <a16:creationId xmlns:a16="http://schemas.microsoft.com/office/drawing/2014/main" id="{D13F9A63-FCC7-4B00-88BD-6557690B7DEE}"/>
              </a:ext>
            </a:extLst>
          </p:cNvPr>
          <p:cNvSpPr>
            <a:spLocks xmlns:a="http://schemas.openxmlformats.org/drawingml/2006/main" noGrp="1"/>
          </p:cNvSpPr>
          <p:nvPr/>
        </p:nvSpPr>
        <p:spPr>
          <a:xfrm xmlns:a="http://schemas.openxmlformats.org/drawingml/2006/main">
            <a:off x="495300" y="971550"/>
            <a:ext cx="1123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EDF6FF"/>
                </a:solidFill>
                <a:latin typeface="Arial"/>
                <a:ea typeface="Arial"/>
                <a:cs typeface="Arial"/>
              </a:defRPr>
            </a:pPr>
            <a:r>
              <a:rPr sz="3150" b="1">
                <a:solidFill>
                  <a:srgbClr val="EDF6FF"/>
                </a:solidFill>
                <a:latin typeface="Arial"/>
                <a:ea typeface="Arial"/>
                <a:cs typeface="Arial"/>
              </a:rPr>
              <a:t>I built the model before I built the interface.</a:t>
            </a:r>
          </a:p>
        </p:txBody>
      </p:sp>
      <p:sp>
        <p:nvSpPr>
          <p:cNvPr id="11" name="story-card-1">
            <a:extLst xmlns:a="http://schemas.openxmlformats.org/drawingml/2006/main">
              <a:ext uri="{FF2B5EF4-FFF2-40B4-BE49-F238E27FC236}">
                <a16:creationId xmlns:a16="http://schemas.microsoft.com/office/drawing/2014/main" id="{29FA7EEC-D8E9-454A-8D6C-103D12436D75}"/>
              </a:ext>
            </a:extLst>
          </p:cNvPr>
          <p:cNvSpPr>
            <a:spLocks xmlns:a="http://schemas.openxmlformats.org/drawingml/2006/main" noGrp="1"/>
          </p:cNvSpPr>
          <p:nvPr/>
        </p:nvSpPr>
        <p:spPr>
          <a:xfrm xmlns:a="http://schemas.openxmlformats.org/drawingml/2006/main">
            <a:off x="495300" y="2381250"/>
            <a:ext cx="3505200" cy="2905125"/>
          </a:xfrm>
          <a:prstGeom xmlns:a="http://schemas.openxmlformats.org/drawingml/2006/main" prst="roundRect">
            <a:avLst>
              <a:gd name="adj" fmla="val 2623"/>
            </a:avLst>
          </a:prstGeom>
          <a:solidFill xmlns:a="http://schemas.openxmlformats.org/drawingml/2006/main">
            <a:srgbClr val="0C1A2C"/>
          </a:solidFill>
          <a:ln xmlns:a="http://schemas.openxmlformats.org/drawingml/2006/main" w="9525">
            <a:solidFill>
              <a:srgbClr val="20364F"/>
            </a:solidFill>
            <a:prstDash val="solid"/>
          </a:ln>
        </p:spPr>
      </p:sp>
      <p:sp>
        <p:nvSpPr>
          <p:cNvPr id="12" name="story-accent-1">
            <a:extLst xmlns:a="http://schemas.openxmlformats.org/drawingml/2006/main">
              <a:ext uri="{FF2B5EF4-FFF2-40B4-BE49-F238E27FC236}">
                <a16:creationId xmlns:a16="http://schemas.microsoft.com/office/drawing/2014/main" id="{8E01672F-F5C0-4FD9-8085-40AE39E66C08}"/>
              </a:ext>
            </a:extLst>
          </p:cNvPr>
          <p:cNvSpPr>
            <a:spLocks xmlns:a="http://schemas.openxmlformats.org/drawingml/2006/main" noGrp="1"/>
          </p:cNvSpPr>
          <p:nvPr/>
        </p:nvSpPr>
        <p:spPr>
          <a:xfrm xmlns:a="http://schemas.openxmlformats.org/drawingml/2006/main">
            <a:off x="723900" y="2647950"/>
            <a:ext cx="87630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13" name="story-number-1">
            <a:extLst xmlns:a="http://schemas.openxmlformats.org/drawingml/2006/main">
              <a:ext uri="{FF2B5EF4-FFF2-40B4-BE49-F238E27FC236}">
                <a16:creationId xmlns:a16="http://schemas.microsoft.com/office/drawing/2014/main" id="{195BB0BE-25C6-4506-82ED-48E725F8A03E}"/>
              </a:ext>
            </a:extLst>
          </p:cNvPr>
          <p:cNvSpPr>
            <a:spLocks xmlns:a="http://schemas.openxmlformats.org/drawingml/2006/main" noGrp="1"/>
          </p:cNvSpPr>
          <p:nvPr/>
        </p:nvSpPr>
        <p:spPr>
          <a:xfrm xmlns:a="http://schemas.openxmlformats.org/drawingml/2006/main">
            <a:off x="723900" y="289560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55DFF2"/>
                </a:solidFill>
                <a:latin typeface="Courier New"/>
                <a:ea typeface="Courier New"/>
                <a:cs typeface="Courier New"/>
              </a:defRPr>
            </a:pPr>
            <a:r>
              <a:rPr sz="2325" b="1">
                <a:solidFill>
                  <a:srgbClr val="55DFF2"/>
                </a:solidFill>
                <a:latin typeface="Courier New"/>
                <a:ea typeface="Courier New"/>
                <a:cs typeface="Courier New"/>
              </a:rPr>
              <a:t>01</a:t>
            </a:r>
          </a:p>
        </p:txBody>
      </p:sp>
      <p:sp>
        <p:nvSpPr>
          <p:cNvPr id="14" name="story-label-1">
            <a:extLst xmlns:a="http://schemas.openxmlformats.org/drawingml/2006/main">
              <a:ext uri="{FF2B5EF4-FFF2-40B4-BE49-F238E27FC236}">
                <a16:creationId xmlns:a16="http://schemas.microsoft.com/office/drawing/2014/main" id="{8A70F67B-274B-4D8E-966C-0AAC43D02338}"/>
              </a:ext>
            </a:extLst>
          </p:cNvPr>
          <p:cNvSpPr>
            <a:spLocks xmlns:a="http://schemas.openxmlformats.org/drawingml/2006/main" noGrp="1"/>
          </p:cNvSpPr>
          <p:nvPr/>
        </p:nvSpPr>
        <p:spPr>
          <a:xfrm xmlns:a="http://schemas.openxmlformats.org/drawingml/2006/main">
            <a:off x="1562100" y="3028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79DB3"/>
                </a:solidFill>
                <a:latin typeface="Courier New"/>
                <a:ea typeface="Courier New"/>
                <a:cs typeface="Courier New"/>
              </a:defRPr>
            </a:pPr>
            <a:r>
              <a:rPr sz="1050" b="1">
                <a:solidFill>
                  <a:srgbClr val="879DB3"/>
                </a:solidFill>
                <a:latin typeface="Courier New"/>
                <a:ea typeface="Courier New"/>
                <a:cs typeface="Courier New"/>
              </a:rPr>
              <a:t>TRAIN</a:t>
            </a:r>
          </a:p>
        </p:txBody>
      </p:sp>
      <p:sp>
        <p:nvSpPr>
          <p:cNvPr id="15" name="story-headline-1">
            <a:extLst xmlns:a="http://schemas.openxmlformats.org/drawingml/2006/main">
              <a:ext uri="{FF2B5EF4-FFF2-40B4-BE49-F238E27FC236}">
                <a16:creationId xmlns:a16="http://schemas.microsoft.com/office/drawing/2014/main" id="{970EBACF-AE20-4BE9-82BD-883A435B7415}"/>
              </a:ext>
            </a:extLst>
          </p:cNvPr>
          <p:cNvSpPr>
            <a:spLocks xmlns:a="http://schemas.openxmlformats.org/drawingml/2006/main" noGrp="1"/>
          </p:cNvSpPr>
          <p:nvPr/>
        </p:nvSpPr>
        <p:spPr>
          <a:xfrm xmlns:a="http://schemas.openxmlformats.org/drawingml/2006/main">
            <a:off x="723900" y="361950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EDF6FF"/>
                </a:solidFill>
                <a:latin typeface="Arial"/>
                <a:ea typeface="Arial"/>
                <a:cs typeface="Arial"/>
              </a:defRPr>
            </a:pPr>
            <a:r>
              <a:rPr sz="2100" b="1">
                <a:solidFill>
                  <a:srgbClr val="EDF6FF"/>
                </a:solidFill>
                <a:latin typeface="Arial"/>
                <a:ea typeface="Arial"/>
                <a:cs typeface="Arial"/>
              </a:rPr>
              <a:t>1,200 examples</a:t>
            </a:r>
          </a:p>
        </p:txBody>
      </p:sp>
      <p:sp>
        <p:nvSpPr>
          <p:cNvPr id="16" name="story-detail-1">
            <a:extLst xmlns:a="http://schemas.openxmlformats.org/drawingml/2006/main">
              <a:ext uri="{FF2B5EF4-FFF2-40B4-BE49-F238E27FC236}">
                <a16:creationId xmlns:a16="http://schemas.microsoft.com/office/drawing/2014/main" id="{EC536D96-F6ED-4E76-8BEC-870675BE7A7F}"/>
              </a:ext>
            </a:extLst>
          </p:cNvPr>
          <p:cNvSpPr>
            <a:spLocks xmlns:a="http://schemas.openxmlformats.org/drawingml/2006/main" noGrp="1"/>
          </p:cNvSpPr>
          <p:nvPr/>
        </p:nvSpPr>
        <p:spPr>
          <a:xfrm xmlns:a="http://schemas.openxmlformats.org/drawingml/2006/main">
            <a:off x="723900" y="4229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800 vulnerable · 400 safe</a:t>
            </a:r>
          </a:p>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20 Python security families</a:t>
            </a:r>
          </a:p>
        </p:txBody>
      </p:sp>
      <p:sp>
        <p:nvSpPr>
          <p:cNvPr id="17" name="story-card-2">
            <a:extLst xmlns:a="http://schemas.openxmlformats.org/drawingml/2006/main">
              <a:ext uri="{FF2B5EF4-FFF2-40B4-BE49-F238E27FC236}">
                <a16:creationId xmlns:a16="http://schemas.microsoft.com/office/drawing/2014/main" id="{0898ED74-340D-4693-B178-60BCD2F882B2}"/>
              </a:ext>
            </a:extLst>
          </p:cNvPr>
          <p:cNvSpPr>
            <a:spLocks xmlns:a="http://schemas.openxmlformats.org/drawingml/2006/main" noGrp="1"/>
          </p:cNvSpPr>
          <p:nvPr/>
        </p:nvSpPr>
        <p:spPr>
          <a:xfrm xmlns:a="http://schemas.openxmlformats.org/drawingml/2006/main">
            <a:off x="4343400" y="2381250"/>
            <a:ext cx="3505200" cy="2905125"/>
          </a:xfrm>
          <a:prstGeom xmlns:a="http://schemas.openxmlformats.org/drawingml/2006/main" prst="roundRect">
            <a:avLst>
              <a:gd name="adj" fmla="val 2623"/>
            </a:avLst>
          </a:prstGeom>
          <a:solidFill xmlns:a="http://schemas.openxmlformats.org/drawingml/2006/main">
            <a:srgbClr val="0C1A2C"/>
          </a:solidFill>
          <a:ln xmlns:a="http://schemas.openxmlformats.org/drawingml/2006/main" w="9525">
            <a:solidFill>
              <a:srgbClr val="20364F"/>
            </a:solidFill>
            <a:prstDash val="solid"/>
          </a:ln>
        </p:spPr>
      </p:sp>
      <p:sp>
        <p:nvSpPr>
          <p:cNvPr id="18" name="story-accent-2">
            <a:extLst xmlns:a="http://schemas.openxmlformats.org/drawingml/2006/main">
              <a:ext uri="{FF2B5EF4-FFF2-40B4-BE49-F238E27FC236}">
                <a16:creationId xmlns:a16="http://schemas.microsoft.com/office/drawing/2014/main" id="{91F31D13-FD88-4CDF-988A-2C904E16639D}"/>
              </a:ext>
            </a:extLst>
          </p:cNvPr>
          <p:cNvSpPr>
            <a:spLocks xmlns:a="http://schemas.openxmlformats.org/drawingml/2006/main" noGrp="1"/>
          </p:cNvSpPr>
          <p:nvPr/>
        </p:nvSpPr>
        <p:spPr>
          <a:xfrm xmlns:a="http://schemas.openxmlformats.org/drawingml/2006/main">
            <a:off x="4572000" y="2647950"/>
            <a:ext cx="87630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19" name="story-number-2">
            <a:extLst xmlns:a="http://schemas.openxmlformats.org/drawingml/2006/main">
              <a:ext uri="{FF2B5EF4-FFF2-40B4-BE49-F238E27FC236}">
                <a16:creationId xmlns:a16="http://schemas.microsoft.com/office/drawing/2014/main" id="{77DA0C4E-C810-4648-97B9-82883851AB16}"/>
              </a:ext>
            </a:extLst>
          </p:cNvPr>
          <p:cNvSpPr>
            <a:spLocks xmlns:a="http://schemas.openxmlformats.org/drawingml/2006/main" noGrp="1"/>
          </p:cNvSpPr>
          <p:nvPr/>
        </p:nvSpPr>
        <p:spPr>
          <a:xfrm xmlns:a="http://schemas.openxmlformats.org/drawingml/2006/main">
            <a:off x="4572000" y="289560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D91FF"/>
                </a:solidFill>
                <a:latin typeface="Courier New"/>
                <a:ea typeface="Courier New"/>
                <a:cs typeface="Courier New"/>
              </a:defRPr>
            </a:pPr>
            <a:r>
              <a:rPr sz="2325" b="1">
                <a:solidFill>
                  <a:srgbClr val="6D91FF"/>
                </a:solidFill>
                <a:latin typeface="Courier New"/>
                <a:ea typeface="Courier New"/>
                <a:cs typeface="Courier New"/>
              </a:rPr>
              <a:t>02</a:t>
            </a:r>
          </a:p>
        </p:txBody>
      </p:sp>
      <p:sp>
        <p:nvSpPr>
          <p:cNvPr id="20" name="story-label-2">
            <a:extLst xmlns:a="http://schemas.openxmlformats.org/drawingml/2006/main">
              <a:ext uri="{FF2B5EF4-FFF2-40B4-BE49-F238E27FC236}">
                <a16:creationId xmlns:a16="http://schemas.microsoft.com/office/drawing/2014/main" id="{EEC0E74B-08E9-42DC-8D09-B9702CF31FC9}"/>
              </a:ext>
            </a:extLst>
          </p:cNvPr>
          <p:cNvSpPr>
            <a:spLocks xmlns:a="http://schemas.openxmlformats.org/drawingml/2006/main" noGrp="1"/>
          </p:cNvSpPr>
          <p:nvPr/>
        </p:nvSpPr>
        <p:spPr>
          <a:xfrm xmlns:a="http://schemas.openxmlformats.org/drawingml/2006/main">
            <a:off x="5410200" y="3028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79DB3"/>
                </a:solidFill>
                <a:latin typeface="Courier New"/>
                <a:ea typeface="Courier New"/>
                <a:cs typeface="Courier New"/>
              </a:defRPr>
            </a:pPr>
            <a:r>
              <a:rPr sz="1050" b="1">
                <a:solidFill>
                  <a:srgbClr val="879DB3"/>
                </a:solidFill>
                <a:latin typeface="Courier New"/>
                <a:ea typeface="Courier New"/>
                <a:cs typeface="Courier New"/>
              </a:rPr>
              <a:t>PUBLISH</a:t>
            </a:r>
          </a:p>
        </p:txBody>
      </p:sp>
      <p:sp>
        <p:nvSpPr>
          <p:cNvPr id="21" name="story-headline-2">
            <a:extLst xmlns:a="http://schemas.openxmlformats.org/drawingml/2006/main">
              <a:ext uri="{FF2B5EF4-FFF2-40B4-BE49-F238E27FC236}">
                <a16:creationId xmlns:a16="http://schemas.microsoft.com/office/drawing/2014/main" id="{8178031A-727A-437A-8857-F1296B43ED48}"/>
              </a:ext>
            </a:extLst>
          </p:cNvPr>
          <p:cNvSpPr>
            <a:spLocks xmlns:a="http://schemas.openxmlformats.org/drawingml/2006/main" noGrp="1"/>
          </p:cNvSpPr>
          <p:nvPr/>
        </p:nvSpPr>
        <p:spPr>
          <a:xfrm xmlns:a="http://schemas.openxmlformats.org/drawingml/2006/main">
            <a:off x="4572000" y="361950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EDF6FF"/>
                </a:solidFill>
                <a:latin typeface="Arial"/>
                <a:ea typeface="Arial"/>
                <a:cs typeface="Arial"/>
              </a:defRPr>
            </a:pPr>
            <a:r>
              <a:rPr sz="2100" b="1">
                <a:solidFill>
                  <a:srgbClr val="EDF6FF"/>
                </a:solidFill>
                <a:latin typeface="Arial"/>
                <a:ea typeface="Arial"/>
                <a:cs typeface="Arial"/>
              </a:rPr>
              <a:t>QLoRA adapter</a:t>
            </a:r>
          </a:p>
        </p:txBody>
      </p:sp>
      <p:sp>
        <p:nvSpPr>
          <p:cNvPr id="22" name="story-detail-2">
            <a:extLst xmlns:a="http://schemas.openxmlformats.org/drawingml/2006/main">
              <a:ext uri="{FF2B5EF4-FFF2-40B4-BE49-F238E27FC236}">
                <a16:creationId xmlns:a16="http://schemas.microsoft.com/office/drawing/2014/main" id="{2CB58BEA-ECC7-48E6-BD30-16C45B4EE536}"/>
              </a:ext>
            </a:extLst>
          </p:cNvPr>
          <p:cNvSpPr>
            <a:spLocks xmlns:a="http://schemas.openxmlformats.org/drawingml/2006/main" noGrp="1"/>
          </p:cNvSpPr>
          <p:nvPr/>
        </p:nvSpPr>
        <p:spPr>
          <a:xfrm xmlns:a="http://schemas.openxmlformats.org/drawingml/2006/main">
            <a:off x="4572000" y="4229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Fine-tuned Qwen3-4B with Unsloth</a:t>
            </a:r>
          </a:p>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Uploaded to Hugging Face</a:t>
            </a:r>
          </a:p>
        </p:txBody>
      </p:sp>
      <p:sp>
        <p:nvSpPr>
          <p:cNvPr id="23" name="story-card-3">
            <a:extLst xmlns:a="http://schemas.openxmlformats.org/drawingml/2006/main">
              <a:ext uri="{FF2B5EF4-FFF2-40B4-BE49-F238E27FC236}">
                <a16:creationId xmlns:a16="http://schemas.microsoft.com/office/drawing/2014/main" id="{E63AC686-6B57-4B41-80BD-271C932AEF91}"/>
              </a:ext>
            </a:extLst>
          </p:cNvPr>
          <p:cNvSpPr>
            <a:spLocks xmlns:a="http://schemas.openxmlformats.org/drawingml/2006/main" noGrp="1"/>
          </p:cNvSpPr>
          <p:nvPr/>
        </p:nvSpPr>
        <p:spPr>
          <a:xfrm xmlns:a="http://schemas.openxmlformats.org/drawingml/2006/main">
            <a:off x="8191500" y="2381250"/>
            <a:ext cx="3505200" cy="2905125"/>
          </a:xfrm>
          <a:prstGeom xmlns:a="http://schemas.openxmlformats.org/drawingml/2006/main" prst="roundRect">
            <a:avLst>
              <a:gd name="adj" fmla="val 2623"/>
            </a:avLst>
          </a:prstGeom>
          <a:solidFill xmlns:a="http://schemas.openxmlformats.org/drawingml/2006/main">
            <a:srgbClr val="0C1A2C"/>
          </a:solidFill>
          <a:ln xmlns:a="http://schemas.openxmlformats.org/drawingml/2006/main" w="9525">
            <a:solidFill>
              <a:srgbClr val="20364F"/>
            </a:solidFill>
            <a:prstDash val="solid"/>
          </a:ln>
        </p:spPr>
      </p:sp>
      <p:sp>
        <p:nvSpPr>
          <p:cNvPr id="24" name="story-accent-3">
            <a:extLst xmlns:a="http://schemas.openxmlformats.org/drawingml/2006/main">
              <a:ext uri="{FF2B5EF4-FFF2-40B4-BE49-F238E27FC236}">
                <a16:creationId xmlns:a16="http://schemas.microsoft.com/office/drawing/2014/main" id="{D4C5B893-A4D7-4755-B3CF-5BF84271B31E}"/>
              </a:ext>
            </a:extLst>
          </p:cNvPr>
          <p:cNvSpPr>
            <a:spLocks xmlns:a="http://schemas.openxmlformats.org/drawingml/2006/main" noGrp="1"/>
          </p:cNvSpPr>
          <p:nvPr/>
        </p:nvSpPr>
        <p:spPr>
          <a:xfrm xmlns:a="http://schemas.openxmlformats.org/drawingml/2006/main">
            <a:off x="8420100" y="2647950"/>
            <a:ext cx="87630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25" name="story-number-3">
            <a:extLst xmlns:a="http://schemas.openxmlformats.org/drawingml/2006/main">
              <a:ext uri="{FF2B5EF4-FFF2-40B4-BE49-F238E27FC236}">
                <a16:creationId xmlns:a16="http://schemas.microsoft.com/office/drawing/2014/main" id="{1415A93D-8A18-4FE6-9A53-5C3FFCEE2135}"/>
              </a:ext>
            </a:extLst>
          </p:cNvPr>
          <p:cNvSpPr>
            <a:spLocks xmlns:a="http://schemas.openxmlformats.org/drawingml/2006/main" noGrp="1"/>
          </p:cNvSpPr>
          <p:nvPr/>
        </p:nvSpPr>
        <p:spPr>
          <a:xfrm xmlns:a="http://schemas.openxmlformats.org/drawingml/2006/main">
            <a:off x="8420100" y="289560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9678FF"/>
                </a:solidFill>
                <a:latin typeface="Courier New"/>
                <a:ea typeface="Courier New"/>
                <a:cs typeface="Courier New"/>
              </a:defRPr>
            </a:pPr>
            <a:r>
              <a:rPr sz="2325" b="1">
                <a:solidFill>
                  <a:srgbClr val="9678FF"/>
                </a:solidFill>
                <a:latin typeface="Courier New"/>
                <a:ea typeface="Courier New"/>
                <a:cs typeface="Courier New"/>
              </a:rPr>
              <a:t>03</a:t>
            </a:r>
          </a:p>
        </p:txBody>
      </p:sp>
      <p:sp>
        <p:nvSpPr>
          <p:cNvPr id="26" name="story-label-3">
            <a:extLst xmlns:a="http://schemas.openxmlformats.org/drawingml/2006/main">
              <a:ext uri="{FF2B5EF4-FFF2-40B4-BE49-F238E27FC236}">
                <a16:creationId xmlns:a16="http://schemas.microsoft.com/office/drawing/2014/main" id="{5D6490FA-D541-4E3C-8758-824B98887B3E}"/>
              </a:ext>
            </a:extLst>
          </p:cNvPr>
          <p:cNvSpPr>
            <a:spLocks xmlns:a="http://schemas.openxmlformats.org/drawingml/2006/main" noGrp="1"/>
          </p:cNvSpPr>
          <p:nvPr/>
        </p:nvSpPr>
        <p:spPr>
          <a:xfrm xmlns:a="http://schemas.openxmlformats.org/drawingml/2006/main">
            <a:off x="9258300" y="3028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879DB3"/>
                </a:solidFill>
                <a:latin typeface="Courier New"/>
                <a:ea typeface="Courier New"/>
                <a:cs typeface="Courier New"/>
              </a:defRPr>
            </a:pPr>
            <a:r>
              <a:rPr sz="1050" b="1">
                <a:solidFill>
                  <a:srgbClr val="879DB3"/>
                </a:solidFill>
                <a:latin typeface="Courier New"/>
                <a:ea typeface="Courier New"/>
                <a:cs typeface="Courier New"/>
              </a:rPr>
              <a:t>PRODUCTIZE</a:t>
            </a:r>
          </a:p>
        </p:txBody>
      </p:sp>
      <p:sp>
        <p:nvSpPr>
          <p:cNvPr id="27" name="story-headline-3">
            <a:extLst xmlns:a="http://schemas.openxmlformats.org/drawingml/2006/main">
              <a:ext uri="{FF2B5EF4-FFF2-40B4-BE49-F238E27FC236}">
                <a16:creationId xmlns:a16="http://schemas.microsoft.com/office/drawing/2014/main" id="{009D9B8F-B149-4315-8FA8-0F06E6513036}"/>
              </a:ext>
            </a:extLst>
          </p:cNvPr>
          <p:cNvSpPr>
            <a:spLocks xmlns:a="http://schemas.openxmlformats.org/drawingml/2006/main" noGrp="1"/>
          </p:cNvSpPr>
          <p:nvPr/>
        </p:nvSpPr>
        <p:spPr>
          <a:xfrm xmlns:a="http://schemas.openxmlformats.org/drawingml/2006/main">
            <a:off x="8420100" y="361950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EDF6FF"/>
                </a:solidFill>
                <a:latin typeface="Arial"/>
                <a:ea typeface="Arial"/>
                <a:cs typeface="Arial"/>
              </a:defRPr>
            </a:pPr>
            <a:r>
              <a:rPr sz="2100" b="1">
                <a:solidFill>
                  <a:srgbClr val="EDF6FF"/>
                </a:solidFill>
                <a:latin typeface="Arial"/>
                <a:ea typeface="Arial"/>
                <a:cs typeface="Arial"/>
              </a:rPr>
              <a:t>Evidence-first app</a:t>
            </a:r>
          </a:p>
        </p:txBody>
      </p:sp>
      <p:sp>
        <p:nvSpPr>
          <p:cNvPr id="28" name="story-detail-3">
            <a:extLst xmlns:a="http://schemas.openxmlformats.org/drawingml/2006/main">
              <a:ext uri="{FF2B5EF4-FFF2-40B4-BE49-F238E27FC236}">
                <a16:creationId xmlns:a16="http://schemas.microsoft.com/office/drawing/2014/main" id="{D80B02E7-72D4-4330-8DEE-94E98311A367}"/>
              </a:ext>
            </a:extLst>
          </p:cNvPr>
          <p:cNvSpPr>
            <a:spLocks xmlns:a="http://schemas.openxmlformats.org/drawingml/2006/main" noGrp="1"/>
          </p:cNvSpPr>
          <p:nvPr/>
        </p:nvSpPr>
        <p:spPr>
          <a:xfrm xmlns:a="http://schemas.openxmlformats.org/drawingml/2006/main">
            <a:off x="8420100" y="4229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Bandit · FAISS RAG · Pydantic</a:t>
            </a:r>
          </a:p>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FastAPI · ngrok · Streamlit</a:t>
            </a:r>
          </a:p>
        </p:txBody>
      </p:sp>
      <p:cxnSp>
        <p:nvCxnSpPr>
          <p:cNvPr id="60" name=""/>
          <p:cNvCxnSpPr>
            <a:stCxn xmlns:a="http://schemas.openxmlformats.org/drawingml/2006/main" id="11" idx="3"/>
            <a:endCxn xmlns:a="http://schemas.openxmlformats.org/drawingml/2006/main" id="17" idx="1"/>
          </p:cNvCxnSpPr>
          <p:nvPr/>
        </p:nvCxnSpPr>
        <p:spPr>
          <a:xfrm xmlns:a="http://schemas.openxmlformats.org/drawingml/2006/main">
            <a:off x="4000500" y="3833813"/>
            <a:ext cx="342900" cy="0"/>
          </a:xfrm>
          <a:prstGeom xmlns:a="http://schemas.openxmlformats.org/drawingml/2006/main" prst="straightConnector1">
            <a:avLst/>
          </a:prstGeom>
          <a:ln xmlns:a="http://schemas.openxmlformats.org/drawingml/2006/main" w="19050">
            <a:solidFill>
              <a:srgbClr val="6D91FF"/>
            </a:solidFill>
            <a:prstDash val="solid"/>
            <a:tailEnd type="arrow" w="sm" len="sm"/>
          </a:ln>
        </p:spPr>
      </p:cxnSp>
      <p:cxnSp>
        <p:nvCxnSpPr>
          <p:cNvPr id="61" name=""/>
          <p:cNvCxnSpPr>
            <a:stCxn xmlns:a="http://schemas.openxmlformats.org/drawingml/2006/main" id="17" idx="3"/>
            <a:endCxn xmlns:a="http://schemas.openxmlformats.org/drawingml/2006/main" id="23" idx="1"/>
          </p:cNvCxnSpPr>
          <p:nvPr/>
        </p:nvCxnSpPr>
        <p:spPr>
          <a:xfrm xmlns:a="http://schemas.openxmlformats.org/drawingml/2006/main">
            <a:off x="7848600" y="3833813"/>
            <a:ext cx="342900" cy="0"/>
          </a:xfrm>
          <a:prstGeom xmlns:a="http://schemas.openxmlformats.org/drawingml/2006/main" prst="straightConnector1">
            <a:avLst/>
          </a:prstGeom>
          <a:ln xmlns:a="http://schemas.openxmlformats.org/drawingml/2006/main" w="19050">
            <a:solidFill>
              <a:srgbClr val="9678FF"/>
            </a:solidFill>
            <a:prstDash val="solid"/>
            <a:tailEnd type="arrow" w="sm" len="sm"/>
          </a:ln>
        </p:spPr>
      </p:cxnSp>
      <p:sp>
        <p:nvSpPr>
          <p:cNvPr id="31" name="story-bottom-line">
            <a:extLst xmlns:a="http://schemas.openxmlformats.org/drawingml/2006/main">
              <a:ext uri="{FF2B5EF4-FFF2-40B4-BE49-F238E27FC236}">
                <a16:creationId xmlns:a16="http://schemas.microsoft.com/office/drawing/2014/main" id="{C0B95832-50BB-4DFA-B72D-AD6A5C586B59}"/>
              </a:ext>
            </a:extLst>
          </p:cNvPr>
          <p:cNvSpPr>
            <a:spLocks xmlns:a="http://schemas.openxmlformats.org/drawingml/2006/main" noGrp="1"/>
          </p:cNvSpPr>
          <p:nvPr/>
        </p:nvSpPr>
        <p:spPr>
          <a:xfrm xmlns:a="http://schemas.openxmlformats.org/drawingml/2006/main">
            <a:off x="495300" y="5600700"/>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879DB3"/>
                </a:solidFill>
                <a:latin typeface="Courier New"/>
                <a:ea typeface="Courier New"/>
                <a:cs typeface="Courier New"/>
              </a:defRPr>
            </a:pPr>
            <a:r>
              <a:rPr sz="1050" b="1">
                <a:solidFill>
                  <a:srgbClr val="879DB3"/>
                </a:solidFill>
                <a:latin typeface="Courier New"/>
                <a:ea typeface="Courier New"/>
                <a:cs typeface="Courier New"/>
              </a:rPr>
              <a:t>TRAINING BEHAVIOR  →  PUBLISHING THE ADAPTER  →  BUILDING THE PRODUCT</a:t>
            </a:r>
          </a:p>
        </p:txBody>
      </p:sp>
    </p:spTree>
    <p:extLst>
      <p:ext uri="{BB962C8B-B14F-4D97-AF65-F5344CB8AC3E}">
        <p14:creationId xmlns:p14="http://schemas.microsoft.com/office/powerpoint/2010/main" val="605986006"/>
      </p:ext>
    </p:extLst>
  </p:cSld>
</p:sld>
</file>

<file path=ppt/slides/slide4.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07217176-DE3E-4E17-BB60-F453F89CB765}"/>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B9AFC98E-AFD2-4D30-9757-C656DE3950EF}"/>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C3B3990C-F243-4341-94B1-9CBDE73781EB}"/>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4">
            <a:extLst xmlns:a="http://schemas.openxmlformats.org/drawingml/2006/main">
              <a:ext uri="{FF2B5EF4-FFF2-40B4-BE49-F238E27FC236}">
                <a16:creationId xmlns:a16="http://schemas.microsoft.com/office/drawing/2014/main" id="{FCC07287-00F2-4A4B-ACD2-2B2A0698B468}"/>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REPOSITORY PIPELINE</a:t>
            </a:r>
          </a:p>
        </p:txBody>
      </p:sp>
      <p:sp>
        <p:nvSpPr>
          <p:cNvPr id="5" name="chrome-event-4">
            <a:extLst xmlns:a="http://schemas.openxmlformats.org/drawingml/2006/main">
              <a:ext uri="{FF2B5EF4-FFF2-40B4-BE49-F238E27FC236}">
                <a16:creationId xmlns:a16="http://schemas.microsoft.com/office/drawing/2014/main" id="{BBC42F45-EE03-4688-9265-E7B43F67A4B3}"/>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4">
            <a:extLst xmlns:a="http://schemas.openxmlformats.org/drawingml/2006/main">
              <a:ext uri="{FF2B5EF4-FFF2-40B4-BE49-F238E27FC236}">
                <a16:creationId xmlns:a16="http://schemas.microsoft.com/office/drawing/2014/main" id="{1F62F198-4C07-41B7-99B6-4010235E271B}"/>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4">
            <a:extLst xmlns:a="http://schemas.openxmlformats.org/drawingml/2006/main">
              <a:ext uri="{FF2B5EF4-FFF2-40B4-BE49-F238E27FC236}">
                <a16:creationId xmlns:a16="http://schemas.microsoft.com/office/drawing/2014/main" id="{D681EFC2-7981-4C8E-9F51-B9923726D776}"/>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4">
            <a:extLst xmlns:a="http://schemas.openxmlformats.org/drawingml/2006/main">
              <a:ext uri="{FF2B5EF4-FFF2-40B4-BE49-F238E27FC236}">
                <a16:creationId xmlns:a16="http://schemas.microsoft.com/office/drawing/2014/main" id="{FC40DDDA-C367-4653-AE42-D86E698E416A}"/>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04</a:t>
            </a:r>
          </a:p>
        </p:txBody>
      </p:sp>
      <p:sp>
        <p:nvSpPr>
          <p:cNvPr id="9" name="slide-eyebrow">
            <a:extLst xmlns:a="http://schemas.openxmlformats.org/drawingml/2006/main">
              <a:ext uri="{FF2B5EF4-FFF2-40B4-BE49-F238E27FC236}">
                <a16:creationId xmlns:a16="http://schemas.microsoft.com/office/drawing/2014/main" id="{6B36EDFB-5296-410F-BF64-13E37D832DD9}"/>
              </a:ext>
            </a:extLst>
          </p:cNvPr>
          <p:cNvSpPr>
            <a:spLocks xmlns:a="http://schemas.openxmlformats.org/drawingml/2006/main" noGrp="1"/>
          </p:cNvSpPr>
          <p:nvPr/>
        </p:nvSpPr>
        <p:spPr>
          <a:xfrm xmlns:a="http://schemas.openxmlformats.org/drawingml/2006/main">
            <a:off x="495300" y="6762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READ-ONLY ANALYSIS</a:t>
            </a:r>
          </a:p>
        </p:txBody>
      </p:sp>
      <p:sp>
        <p:nvSpPr>
          <p:cNvPr id="10" name="slide-title">
            <a:extLst xmlns:a="http://schemas.openxmlformats.org/drawingml/2006/main">
              <a:ext uri="{FF2B5EF4-FFF2-40B4-BE49-F238E27FC236}">
                <a16:creationId xmlns:a16="http://schemas.microsoft.com/office/drawing/2014/main" id="{14574936-AD33-4901-848C-8024827A1DA6}"/>
              </a:ext>
            </a:extLst>
          </p:cNvPr>
          <p:cNvSpPr>
            <a:spLocks xmlns:a="http://schemas.openxmlformats.org/drawingml/2006/main" noGrp="1"/>
          </p:cNvSpPr>
          <p:nvPr/>
        </p:nvSpPr>
        <p:spPr>
          <a:xfrm xmlns:a="http://schemas.openxmlformats.org/drawingml/2006/main">
            <a:off x="495300" y="971550"/>
            <a:ext cx="1123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EDF6FF"/>
                </a:solidFill>
                <a:latin typeface="Arial"/>
                <a:ea typeface="Arial"/>
                <a:cs typeface="Arial"/>
              </a:defRPr>
            </a:pPr>
            <a:r>
              <a:rPr sz="2925" b="1">
                <a:solidFill>
                  <a:srgbClr val="EDF6FF"/>
                </a:solidFill>
                <a:latin typeface="Arial"/>
                <a:ea typeface="Arial"/>
                <a:cs typeface="Arial"/>
              </a:rPr>
              <a:t>Every repository passes through six evidence-first stages.</a:t>
            </a:r>
          </a:p>
        </p:txBody>
      </p:sp>
      <p:sp>
        <p:nvSpPr>
          <p:cNvPr id="11" name="pipeline-stage-1">
            <a:extLst xmlns:a="http://schemas.openxmlformats.org/drawingml/2006/main">
              <a:ext uri="{FF2B5EF4-FFF2-40B4-BE49-F238E27FC236}">
                <a16:creationId xmlns:a16="http://schemas.microsoft.com/office/drawing/2014/main" id="{8EC1D42B-F036-47E0-9D74-0A354547C0AC}"/>
              </a:ext>
            </a:extLst>
          </p:cNvPr>
          <p:cNvSpPr>
            <a:spLocks xmlns:a="http://schemas.openxmlformats.org/drawingml/2006/main" noGrp="1"/>
          </p:cNvSpPr>
          <p:nvPr/>
        </p:nvSpPr>
        <p:spPr>
          <a:xfrm xmlns:a="http://schemas.openxmlformats.org/drawingml/2006/main">
            <a:off x="49530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12" name="pipeline-stage-accent-1">
            <a:extLst xmlns:a="http://schemas.openxmlformats.org/drawingml/2006/main">
              <a:ext uri="{FF2B5EF4-FFF2-40B4-BE49-F238E27FC236}">
                <a16:creationId xmlns:a16="http://schemas.microsoft.com/office/drawing/2014/main" id="{E9354A00-50BF-4FC8-B13B-054D7A4D0FC2}"/>
              </a:ext>
            </a:extLst>
          </p:cNvPr>
          <p:cNvSpPr>
            <a:spLocks xmlns:a="http://schemas.openxmlformats.org/drawingml/2006/main" noGrp="1"/>
          </p:cNvSpPr>
          <p:nvPr/>
        </p:nvSpPr>
        <p:spPr>
          <a:xfrm xmlns:a="http://schemas.openxmlformats.org/drawingml/2006/main">
            <a:off x="666750" y="2457450"/>
            <a:ext cx="51435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13" name="pipeline-stage-number-1">
            <a:extLst xmlns:a="http://schemas.openxmlformats.org/drawingml/2006/main">
              <a:ext uri="{FF2B5EF4-FFF2-40B4-BE49-F238E27FC236}">
                <a16:creationId xmlns:a16="http://schemas.microsoft.com/office/drawing/2014/main" id="{40015021-A18B-41EE-9239-7557D9E69038}"/>
              </a:ext>
            </a:extLst>
          </p:cNvPr>
          <p:cNvSpPr>
            <a:spLocks xmlns:a="http://schemas.openxmlformats.org/drawingml/2006/main" noGrp="1"/>
          </p:cNvSpPr>
          <p:nvPr/>
        </p:nvSpPr>
        <p:spPr>
          <a:xfrm xmlns:a="http://schemas.openxmlformats.org/drawingml/2006/main">
            <a:off x="66675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5DFF2"/>
                </a:solidFill>
                <a:latin typeface="Courier New"/>
                <a:ea typeface="Courier New"/>
                <a:cs typeface="Courier New"/>
              </a:defRPr>
            </a:pPr>
            <a:r>
              <a:rPr sz="1500" b="1">
                <a:solidFill>
                  <a:srgbClr val="55DFF2"/>
                </a:solidFill>
                <a:latin typeface="Courier New"/>
                <a:ea typeface="Courier New"/>
                <a:cs typeface="Courier New"/>
              </a:rPr>
              <a:t>01</a:t>
            </a:r>
          </a:p>
        </p:txBody>
      </p:sp>
      <p:sp>
        <p:nvSpPr>
          <p:cNvPr id="14" name="pipeline-stage-label-1">
            <a:extLst xmlns:a="http://schemas.openxmlformats.org/drawingml/2006/main">
              <a:ext uri="{FF2B5EF4-FFF2-40B4-BE49-F238E27FC236}">
                <a16:creationId xmlns:a16="http://schemas.microsoft.com/office/drawing/2014/main" id="{241CECC5-4288-4CF5-B504-46FCE98B45E7}"/>
              </a:ext>
            </a:extLst>
          </p:cNvPr>
          <p:cNvSpPr>
            <a:spLocks xmlns:a="http://schemas.openxmlformats.org/drawingml/2006/main" noGrp="1"/>
          </p:cNvSpPr>
          <p:nvPr/>
        </p:nvSpPr>
        <p:spPr>
          <a:xfrm xmlns:a="http://schemas.openxmlformats.org/drawingml/2006/main">
            <a:off x="66675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INTAKE</a:t>
            </a:r>
          </a:p>
        </p:txBody>
      </p:sp>
      <p:sp>
        <p:nvSpPr>
          <p:cNvPr id="15" name="pipeline-stage-title-1">
            <a:extLst xmlns:a="http://schemas.openxmlformats.org/drawingml/2006/main">
              <a:ext uri="{FF2B5EF4-FFF2-40B4-BE49-F238E27FC236}">
                <a16:creationId xmlns:a16="http://schemas.microsoft.com/office/drawing/2014/main" id="{821DA399-68F8-4773-BEC0-53EA85DBE7F6}"/>
              </a:ext>
            </a:extLst>
          </p:cNvPr>
          <p:cNvSpPr>
            <a:spLocks xmlns:a="http://schemas.openxmlformats.org/drawingml/2006/main" noGrp="1"/>
          </p:cNvSpPr>
          <p:nvPr/>
        </p:nvSpPr>
        <p:spPr>
          <a:xfrm xmlns:a="http://schemas.openxmlformats.org/drawingml/2006/main">
            <a:off x="66675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Public GitHub URL</a:t>
            </a:r>
          </a:p>
        </p:txBody>
      </p:sp>
      <p:sp>
        <p:nvSpPr>
          <p:cNvPr id="16" name="pipeline-stage-detail-1">
            <a:extLst xmlns:a="http://schemas.openxmlformats.org/drawingml/2006/main">
              <a:ext uri="{FF2B5EF4-FFF2-40B4-BE49-F238E27FC236}">
                <a16:creationId xmlns:a16="http://schemas.microsoft.com/office/drawing/2014/main" id="{82D2DEAC-E753-4C82-9422-485C823CC787}"/>
              </a:ext>
            </a:extLst>
          </p:cNvPr>
          <p:cNvSpPr>
            <a:spLocks xmlns:a="http://schemas.openxmlformats.org/drawingml/2006/main" noGrp="1"/>
          </p:cNvSpPr>
          <p:nvPr/>
        </p:nvSpPr>
        <p:spPr>
          <a:xfrm xmlns:a="http://schemas.openxmlformats.org/drawingml/2006/main">
            <a:off x="66675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Validate the URL</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and shallow-clone</a:t>
            </a:r>
          </a:p>
        </p:txBody>
      </p:sp>
      <p:sp>
        <p:nvSpPr>
          <p:cNvPr id="17" name="pipeline-stage-2">
            <a:extLst xmlns:a="http://schemas.openxmlformats.org/drawingml/2006/main">
              <a:ext uri="{FF2B5EF4-FFF2-40B4-BE49-F238E27FC236}">
                <a16:creationId xmlns:a16="http://schemas.microsoft.com/office/drawing/2014/main" id="{64176666-7D4B-41FE-A9C6-94B7E5B6D080}"/>
              </a:ext>
            </a:extLst>
          </p:cNvPr>
          <p:cNvSpPr>
            <a:spLocks xmlns:a="http://schemas.openxmlformats.org/drawingml/2006/main" noGrp="1"/>
          </p:cNvSpPr>
          <p:nvPr/>
        </p:nvSpPr>
        <p:spPr>
          <a:xfrm xmlns:a="http://schemas.openxmlformats.org/drawingml/2006/main">
            <a:off x="238125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18" name="pipeline-stage-accent-2">
            <a:extLst xmlns:a="http://schemas.openxmlformats.org/drawingml/2006/main">
              <a:ext uri="{FF2B5EF4-FFF2-40B4-BE49-F238E27FC236}">
                <a16:creationId xmlns:a16="http://schemas.microsoft.com/office/drawing/2014/main" id="{E95210B5-8EBF-4075-A4ED-2EFCEFA8B381}"/>
              </a:ext>
            </a:extLst>
          </p:cNvPr>
          <p:cNvSpPr>
            <a:spLocks xmlns:a="http://schemas.openxmlformats.org/drawingml/2006/main" noGrp="1"/>
          </p:cNvSpPr>
          <p:nvPr/>
        </p:nvSpPr>
        <p:spPr>
          <a:xfrm xmlns:a="http://schemas.openxmlformats.org/drawingml/2006/main">
            <a:off x="2552700" y="2457450"/>
            <a:ext cx="51435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19" name="pipeline-stage-number-2">
            <a:extLst xmlns:a="http://schemas.openxmlformats.org/drawingml/2006/main">
              <a:ext uri="{FF2B5EF4-FFF2-40B4-BE49-F238E27FC236}">
                <a16:creationId xmlns:a16="http://schemas.microsoft.com/office/drawing/2014/main" id="{92D4B406-2DF9-48EF-BDCF-2724023F9F92}"/>
              </a:ext>
            </a:extLst>
          </p:cNvPr>
          <p:cNvSpPr>
            <a:spLocks xmlns:a="http://schemas.openxmlformats.org/drawingml/2006/main" noGrp="1"/>
          </p:cNvSpPr>
          <p:nvPr/>
        </p:nvSpPr>
        <p:spPr>
          <a:xfrm xmlns:a="http://schemas.openxmlformats.org/drawingml/2006/main">
            <a:off x="255270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5DFF2"/>
                </a:solidFill>
                <a:latin typeface="Courier New"/>
                <a:ea typeface="Courier New"/>
                <a:cs typeface="Courier New"/>
              </a:defRPr>
            </a:pPr>
            <a:r>
              <a:rPr sz="1500" b="1">
                <a:solidFill>
                  <a:srgbClr val="55DFF2"/>
                </a:solidFill>
                <a:latin typeface="Courier New"/>
                <a:ea typeface="Courier New"/>
                <a:cs typeface="Courier New"/>
              </a:rPr>
              <a:t>02</a:t>
            </a:r>
          </a:p>
        </p:txBody>
      </p:sp>
      <p:sp>
        <p:nvSpPr>
          <p:cNvPr id="20" name="pipeline-stage-label-2">
            <a:extLst xmlns:a="http://schemas.openxmlformats.org/drawingml/2006/main">
              <a:ext uri="{FF2B5EF4-FFF2-40B4-BE49-F238E27FC236}">
                <a16:creationId xmlns:a16="http://schemas.microsoft.com/office/drawing/2014/main" id="{A17C5219-290A-4980-8481-D13D14EAF70D}"/>
              </a:ext>
            </a:extLst>
          </p:cNvPr>
          <p:cNvSpPr>
            <a:spLocks xmlns:a="http://schemas.openxmlformats.org/drawingml/2006/main" noGrp="1"/>
          </p:cNvSpPr>
          <p:nvPr/>
        </p:nvSpPr>
        <p:spPr>
          <a:xfrm xmlns:a="http://schemas.openxmlformats.org/drawingml/2006/main">
            <a:off x="255270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DISCOVER</a:t>
            </a:r>
          </a:p>
        </p:txBody>
      </p:sp>
      <p:sp>
        <p:nvSpPr>
          <p:cNvPr id="21" name="pipeline-stage-title-2">
            <a:extLst xmlns:a="http://schemas.openxmlformats.org/drawingml/2006/main">
              <a:ext uri="{FF2B5EF4-FFF2-40B4-BE49-F238E27FC236}">
                <a16:creationId xmlns:a16="http://schemas.microsoft.com/office/drawing/2014/main" id="{EF1DA764-0B02-42FD-AD0E-F63F002152E5}"/>
              </a:ext>
            </a:extLst>
          </p:cNvPr>
          <p:cNvSpPr>
            <a:spLocks xmlns:a="http://schemas.openxmlformats.org/drawingml/2006/main" noGrp="1"/>
          </p:cNvSpPr>
          <p:nvPr/>
        </p:nvSpPr>
        <p:spPr>
          <a:xfrm xmlns:a="http://schemas.openxmlformats.org/drawingml/2006/main">
            <a:off x="255270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Readable Python files</a:t>
            </a:r>
          </a:p>
        </p:txBody>
      </p:sp>
      <p:sp>
        <p:nvSpPr>
          <p:cNvPr id="22" name="pipeline-stage-detail-2">
            <a:extLst xmlns:a="http://schemas.openxmlformats.org/drawingml/2006/main">
              <a:ext uri="{FF2B5EF4-FFF2-40B4-BE49-F238E27FC236}">
                <a16:creationId xmlns:a16="http://schemas.microsoft.com/office/drawing/2014/main" id="{B2594010-1C2E-47B2-A987-A325ACEADC3B}"/>
              </a:ext>
            </a:extLst>
          </p:cNvPr>
          <p:cNvSpPr>
            <a:spLocks xmlns:a="http://schemas.openxmlformats.org/drawingml/2006/main" noGrp="1"/>
          </p:cNvSpPr>
          <p:nvPr/>
        </p:nvSpPr>
        <p:spPr>
          <a:xfrm xmlns:a="http://schemas.openxmlformats.org/drawingml/2006/main">
            <a:off x="255270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Ignore environments,</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builds, and symlinks</a:t>
            </a:r>
          </a:p>
        </p:txBody>
      </p:sp>
      <p:sp>
        <p:nvSpPr>
          <p:cNvPr id="23" name="pipeline-stage-3">
            <a:extLst xmlns:a="http://schemas.openxmlformats.org/drawingml/2006/main">
              <a:ext uri="{FF2B5EF4-FFF2-40B4-BE49-F238E27FC236}">
                <a16:creationId xmlns:a16="http://schemas.microsoft.com/office/drawing/2014/main" id="{C3B83079-DEB1-45EF-9341-2582DD70A015}"/>
              </a:ext>
            </a:extLst>
          </p:cNvPr>
          <p:cNvSpPr>
            <a:spLocks xmlns:a="http://schemas.openxmlformats.org/drawingml/2006/main" noGrp="1"/>
          </p:cNvSpPr>
          <p:nvPr/>
        </p:nvSpPr>
        <p:spPr>
          <a:xfrm xmlns:a="http://schemas.openxmlformats.org/drawingml/2006/main">
            <a:off x="426720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24" name="pipeline-stage-accent-3">
            <a:extLst xmlns:a="http://schemas.openxmlformats.org/drawingml/2006/main">
              <a:ext uri="{FF2B5EF4-FFF2-40B4-BE49-F238E27FC236}">
                <a16:creationId xmlns:a16="http://schemas.microsoft.com/office/drawing/2014/main" id="{735130F8-919E-4AEB-9E78-2CB61E88CDAB}"/>
              </a:ext>
            </a:extLst>
          </p:cNvPr>
          <p:cNvSpPr>
            <a:spLocks xmlns:a="http://schemas.openxmlformats.org/drawingml/2006/main" noGrp="1"/>
          </p:cNvSpPr>
          <p:nvPr/>
        </p:nvSpPr>
        <p:spPr>
          <a:xfrm xmlns:a="http://schemas.openxmlformats.org/drawingml/2006/main">
            <a:off x="4438650" y="2457450"/>
            <a:ext cx="514350" cy="38100"/>
          </a:xfrm>
          <a:prstGeom xmlns:a="http://schemas.openxmlformats.org/drawingml/2006/main" prst="rect">
            <a:avLst/>
          </a:prstGeom>
          <a:solidFill xmlns:a="http://schemas.openxmlformats.org/drawingml/2006/main">
            <a:srgbClr val="F7C95C"/>
          </a:solidFill>
          <a:ln xmlns:a="http://schemas.openxmlformats.org/drawingml/2006/main" w="0">
            <a:solidFill>
              <a:srgbClr val="F7C95C"/>
            </a:solidFill>
            <a:prstDash val="solid"/>
          </a:ln>
        </p:spPr>
      </p:sp>
      <p:sp>
        <p:nvSpPr>
          <p:cNvPr id="25" name="pipeline-stage-number-3">
            <a:extLst xmlns:a="http://schemas.openxmlformats.org/drawingml/2006/main">
              <a:ext uri="{FF2B5EF4-FFF2-40B4-BE49-F238E27FC236}">
                <a16:creationId xmlns:a16="http://schemas.microsoft.com/office/drawing/2014/main" id="{DC7EDD6B-7164-48D8-B80A-810E95A2965F}"/>
              </a:ext>
            </a:extLst>
          </p:cNvPr>
          <p:cNvSpPr>
            <a:spLocks xmlns:a="http://schemas.openxmlformats.org/drawingml/2006/main" noGrp="1"/>
          </p:cNvSpPr>
          <p:nvPr/>
        </p:nvSpPr>
        <p:spPr>
          <a:xfrm xmlns:a="http://schemas.openxmlformats.org/drawingml/2006/main">
            <a:off x="443865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7C95C"/>
                </a:solidFill>
                <a:latin typeface="Courier New"/>
                <a:ea typeface="Courier New"/>
                <a:cs typeface="Courier New"/>
              </a:defRPr>
            </a:pPr>
            <a:r>
              <a:rPr sz="1500" b="1">
                <a:solidFill>
                  <a:srgbClr val="F7C95C"/>
                </a:solidFill>
                <a:latin typeface="Courier New"/>
                <a:ea typeface="Courier New"/>
                <a:cs typeface="Courier New"/>
              </a:rPr>
              <a:t>03</a:t>
            </a:r>
          </a:p>
        </p:txBody>
      </p:sp>
      <p:sp>
        <p:nvSpPr>
          <p:cNvPr id="26" name="pipeline-stage-label-3">
            <a:extLst xmlns:a="http://schemas.openxmlformats.org/drawingml/2006/main">
              <a:ext uri="{FF2B5EF4-FFF2-40B4-BE49-F238E27FC236}">
                <a16:creationId xmlns:a16="http://schemas.microsoft.com/office/drawing/2014/main" id="{4F135C94-56F6-40F9-9459-327B9CE448AA}"/>
              </a:ext>
            </a:extLst>
          </p:cNvPr>
          <p:cNvSpPr>
            <a:spLocks xmlns:a="http://schemas.openxmlformats.org/drawingml/2006/main" noGrp="1"/>
          </p:cNvSpPr>
          <p:nvPr/>
        </p:nvSpPr>
        <p:spPr>
          <a:xfrm xmlns:a="http://schemas.openxmlformats.org/drawingml/2006/main">
            <a:off x="443865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SCAN</a:t>
            </a:r>
          </a:p>
        </p:txBody>
      </p:sp>
      <p:sp>
        <p:nvSpPr>
          <p:cNvPr id="27" name="pipeline-stage-title-3">
            <a:extLst xmlns:a="http://schemas.openxmlformats.org/drawingml/2006/main">
              <a:ext uri="{FF2B5EF4-FFF2-40B4-BE49-F238E27FC236}">
                <a16:creationId xmlns:a16="http://schemas.microsoft.com/office/drawing/2014/main" id="{20AD6441-76E3-4EEB-8F1D-4BC268374A4A}"/>
              </a:ext>
            </a:extLst>
          </p:cNvPr>
          <p:cNvSpPr>
            <a:spLocks xmlns:a="http://schemas.openxmlformats.org/drawingml/2006/main" noGrp="1"/>
          </p:cNvSpPr>
          <p:nvPr/>
        </p:nvSpPr>
        <p:spPr>
          <a:xfrm xmlns:a="http://schemas.openxmlformats.org/drawingml/2006/main">
            <a:off x="443865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Bandit static clues</a:t>
            </a:r>
          </a:p>
        </p:txBody>
      </p:sp>
      <p:sp>
        <p:nvSpPr>
          <p:cNvPr id="28" name="pipeline-stage-detail-3">
            <a:extLst xmlns:a="http://schemas.openxmlformats.org/drawingml/2006/main">
              <a:ext uri="{FF2B5EF4-FFF2-40B4-BE49-F238E27FC236}">
                <a16:creationId xmlns:a16="http://schemas.microsoft.com/office/drawing/2014/main" id="{8DC21AA7-41C6-4D52-9849-2EEA07DCFCCE}"/>
              </a:ext>
            </a:extLst>
          </p:cNvPr>
          <p:cNvSpPr>
            <a:spLocks xmlns:a="http://schemas.openxmlformats.org/drawingml/2006/main" noGrp="1"/>
          </p:cNvSpPr>
          <p:nvPr/>
        </p:nvSpPr>
        <p:spPr>
          <a:xfrm xmlns:a="http://schemas.openxmlformats.org/drawingml/2006/main">
            <a:off x="443865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Flag candidates and</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prioritize risky files</a:t>
            </a:r>
          </a:p>
        </p:txBody>
      </p:sp>
      <p:sp>
        <p:nvSpPr>
          <p:cNvPr id="29" name="pipeline-stage-4">
            <a:extLst xmlns:a="http://schemas.openxmlformats.org/drawingml/2006/main">
              <a:ext uri="{FF2B5EF4-FFF2-40B4-BE49-F238E27FC236}">
                <a16:creationId xmlns:a16="http://schemas.microsoft.com/office/drawing/2014/main" id="{511C1170-FF24-4260-A9C9-5058108927FB}"/>
              </a:ext>
            </a:extLst>
          </p:cNvPr>
          <p:cNvSpPr>
            <a:spLocks xmlns:a="http://schemas.openxmlformats.org/drawingml/2006/main" noGrp="1"/>
          </p:cNvSpPr>
          <p:nvPr/>
        </p:nvSpPr>
        <p:spPr>
          <a:xfrm xmlns:a="http://schemas.openxmlformats.org/drawingml/2006/main">
            <a:off x="615315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30" name="pipeline-stage-accent-4">
            <a:extLst xmlns:a="http://schemas.openxmlformats.org/drawingml/2006/main">
              <a:ext uri="{FF2B5EF4-FFF2-40B4-BE49-F238E27FC236}">
                <a16:creationId xmlns:a16="http://schemas.microsoft.com/office/drawing/2014/main" id="{9FB86A7C-D8A6-4514-B45B-FAF91570E61E}"/>
              </a:ext>
            </a:extLst>
          </p:cNvPr>
          <p:cNvSpPr>
            <a:spLocks xmlns:a="http://schemas.openxmlformats.org/drawingml/2006/main" noGrp="1"/>
          </p:cNvSpPr>
          <p:nvPr/>
        </p:nvSpPr>
        <p:spPr>
          <a:xfrm xmlns:a="http://schemas.openxmlformats.org/drawingml/2006/main">
            <a:off x="6324600" y="2457450"/>
            <a:ext cx="51435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1" name="pipeline-stage-number-4">
            <a:extLst xmlns:a="http://schemas.openxmlformats.org/drawingml/2006/main">
              <a:ext uri="{FF2B5EF4-FFF2-40B4-BE49-F238E27FC236}">
                <a16:creationId xmlns:a16="http://schemas.microsoft.com/office/drawing/2014/main" id="{D8CF54DA-22C0-4CF7-92AA-43814F78010C}"/>
              </a:ext>
            </a:extLst>
          </p:cNvPr>
          <p:cNvSpPr>
            <a:spLocks xmlns:a="http://schemas.openxmlformats.org/drawingml/2006/main" noGrp="1"/>
          </p:cNvSpPr>
          <p:nvPr/>
        </p:nvSpPr>
        <p:spPr>
          <a:xfrm xmlns:a="http://schemas.openxmlformats.org/drawingml/2006/main">
            <a:off x="632460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6D91FF"/>
                </a:solidFill>
                <a:latin typeface="Courier New"/>
                <a:ea typeface="Courier New"/>
                <a:cs typeface="Courier New"/>
              </a:defRPr>
            </a:pPr>
            <a:r>
              <a:rPr sz="1500" b="1">
                <a:solidFill>
                  <a:srgbClr val="6D91FF"/>
                </a:solidFill>
                <a:latin typeface="Courier New"/>
                <a:ea typeface="Courier New"/>
                <a:cs typeface="Courier New"/>
              </a:rPr>
              <a:t>04</a:t>
            </a:r>
          </a:p>
        </p:txBody>
      </p:sp>
      <p:sp>
        <p:nvSpPr>
          <p:cNvPr id="32" name="pipeline-stage-label-4">
            <a:extLst xmlns:a="http://schemas.openxmlformats.org/drawingml/2006/main">
              <a:ext uri="{FF2B5EF4-FFF2-40B4-BE49-F238E27FC236}">
                <a16:creationId xmlns:a16="http://schemas.microsoft.com/office/drawing/2014/main" id="{36B6024F-6FAE-452D-A6E3-9A52961B4A9D}"/>
              </a:ext>
            </a:extLst>
          </p:cNvPr>
          <p:cNvSpPr>
            <a:spLocks xmlns:a="http://schemas.openxmlformats.org/drawingml/2006/main" noGrp="1"/>
          </p:cNvSpPr>
          <p:nvPr/>
        </p:nvSpPr>
        <p:spPr>
          <a:xfrm xmlns:a="http://schemas.openxmlformats.org/drawingml/2006/main">
            <a:off x="632460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GROUND</a:t>
            </a:r>
          </a:p>
        </p:txBody>
      </p:sp>
      <p:sp>
        <p:nvSpPr>
          <p:cNvPr id="33" name="pipeline-stage-title-4">
            <a:extLst xmlns:a="http://schemas.openxmlformats.org/drawingml/2006/main">
              <a:ext uri="{FF2B5EF4-FFF2-40B4-BE49-F238E27FC236}">
                <a16:creationId xmlns:a16="http://schemas.microsoft.com/office/drawing/2014/main" id="{E96B89F3-F9B6-44A9-BC3D-9FF42E3454F8}"/>
              </a:ext>
            </a:extLst>
          </p:cNvPr>
          <p:cNvSpPr>
            <a:spLocks xmlns:a="http://schemas.openxmlformats.org/drawingml/2006/main" noGrp="1"/>
          </p:cNvSpPr>
          <p:nvPr/>
        </p:nvSpPr>
        <p:spPr>
          <a:xfrm xmlns:a="http://schemas.openxmlformats.org/drawingml/2006/main">
            <a:off x="632460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Code + FAISS RAG</a:t>
            </a:r>
          </a:p>
        </p:txBody>
      </p:sp>
      <p:sp>
        <p:nvSpPr>
          <p:cNvPr id="34" name="pipeline-stage-detail-4">
            <a:extLst xmlns:a="http://schemas.openxmlformats.org/drawingml/2006/main">
              <a:ext uri="{FF2B5EF4-FFF2-40B4-BE49-F238E27FC236}">
                <a16:creationId xmlns:a16="http://schemas.microsoft.com/office/drawing/2014/main" id="{C3F04D85-74A1-4146-BD77-E8147CAF688B}"/>
              </a:ext>
            </a:extLst>
          </p:cNvPr>
          <p:cNvSpPr>
            <a:spLocks xmlns:a="http://schemas.openxmlformats.org/drawingml/2006/main" noGrp="1"/>
          </p:cNvSpPr>
          <p:nvPr/>
        </p:nvSpPr>
        <p:spPr>
          <a:xfrm xmlns:a="http://schemas.openxmlformats.org/drawingml/2006/main">
            <a:off x="632460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Build focused context and</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retrieve security guidance</a:t>
            </a:r>
          </a:p>
        </p:txBody>
      </p:sp>
      <p:sp>
        <p:nvSpPr>
          <p:cNvPr id="35" name="pipeline-stage-5">
            <a:extLst xmlns:a="http://schemas.openxmlformats.org/drawingml/2006/main">
              <a:ext uri="{FF2B5EF4-FFF2-40B4-BE49-F238E27FC236}">
                <a16:creationId xmlns:a16="http://schemas.microsoft.com/office/drawing/2014/main" id="{455D0C41-19C3-4C63-B6DA-234A2DF319FA}"/>
              </a:ext>
            </a:extLst>
          </p:cNvPr>
          <p:cNvSpPr>
            <a:spLocks xmlns:a="http://schemas.openxmlformats.org/drawingml/2006/main" noGrp="1"/>
          </p:cNvSpPr>
          <p:nvPr/>
        </p:nvSpPr>
        <p:spPr>
          <a:xfrm xmlns:a="http://schemas.openxmlformats.org/drawingml/2006/main">
            <a:off x="803910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36" name="pipeline-stage-accent-5">
            <a:extLst xmlns:a="http://schemas.openxmlformats.org/drawingml/2006/main">
              <a:ext uri="{FF2B5EF4-FFF2-40B4-BE49-F238E27FC236}">
                <a16:creationId xmlns:a16="http://schemas.microsoft.com/office/drawing/2014/main" id="{0DC8C89E-ECB4-44AE-A696-7AD518FDDE39}"/>
              </a:ext>
            </a:extLst>
          </p:cNvPr>
          <p:cNvSpPr>
            <a:spLocks xmlns:a="http://schemas.openxmlformats.org/drawingml/2006/main" noGrp="1"/>
          </p:cNvSpPr>
          <p:nvPr/>
        </p:nvSpPr>
        <p:spPr>
          <a:xfrm xmlns:a="http://schemas.openxmlformats.org/drawingml/2006/main">
            <a:off x="8210550" y="2457450"/>
            <a:ext cx="51435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37" name="pipeline-stage-number-5">
            <a:extLst xmlns:a="http://schemas.openxmlformats.org/drawingml/2006/main">
              <a:ext uri="{FF2B5EF4-FFF2-40B4-BE49-F238E27FC236}">
                <a16:creationId xmlns:a16="http://schemas.microsoft.com/office/drawing/2014/main" id="{A4B60BA7-8D7C-4259-B61D-686A3DFBC6D1}"/>
              </a:ext>
            </a:extLst>
          </p:cNvPr>
          <p:cNvSpPr>
            <a:spLocks xmlns:a="http://schemas.openxmlformats.org/drawingml/2006/main" noGrp="1"/>
          </p:cNvSpPr>
          <p:nvPr/>
        </p:nvSpPr>
        <p:spPr>
          <a:xfrm xmlns:a="http://schemas.openxmlformats.org/drawingml/2006/main">
            <a:off x="821055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9678FF"/>
                </a:solidFill>
                <a:latin typeface="Courier New"/>
                <a:ea typeface="Courier New"/>
                <a:cs typeface="Courier New"/>
              </a:defRPr>
            </a:pPr>
            <a:r>
              <a:rPr sz="1500" b="1">
                <a:solidFill>
                  <a:srgbClr val="9678FF"/>
                </a:solidFill>
                <a:latin typeface="Courier New"/>
                <a:ea typeface="Courier New"/>
                <a:cs typeface="Courier New"/>
              </a:rPr>
              <a:t>05</a:t>
            </a:r>
          </a:p>
        </p:txBody>
      </p:sp>
      <p:sp>
        <p:nvSpPr>
          <p:cNvPr id="38" name="pipeline-stage-label-5">
            <a:extLst xmlns:a="http://schemas.openxmlformats.org/drawingml/2006/main">
              <a:ext uri="{FF2B5EF4-FFF2-40B4-BE49-F238E27FC236}">
                <a16:creationId xmlns:a16="http://schemas.microsoft.com/office/drawing/2014/main" id="{DFA250E5-9DE5-4941-9D0F-89989C5EBDF2}"/>
              </a:ext>
            </a:extLst>
          </p:cNvPr>
          <p:cNvSpPr>
            <a:spLocks xmlns:a="http://schemas.openxmlformats.org/drawingml/2006/main" noGrp="1"/>
          </p:cNvSpPr>
          <p:nvPr/>
        </p:nvSpPr>
        <p:spPr>
          <a:xfrm xmlns:a="http://schemas.openxmlformats.org/drawingml/2006/main">
            <a:off x="821055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REVIEW</a:t>
            </a:r>
          </a:p>
        </p:txBody>
      </p:sp>
      <p:sp>
        <p:nvSpPr>
          <p:cNvPr id="39" name="pipeline-stage-title-5">
            <a:extLst xmlns:a="http://schemas.openxmlformats.org/drawingml/2006/main">
              <a:ext uri="{FF2B5EF4-FFF2-40B4-BE49-F238E27FC236}">
                <a16:creationId xmlns:a16="http://schemas.microsoft.com/office/drawing/2014/main" id="{31876FD6-B029-4EC2-AC33-D4754BB51463}"/>
              </a:ext>
            </a:extLst>
          </p:cNvPr>
          <p:cNvSpPr>
            <a:spLocks xmlns:a="http://schemas.openxmlformats.org/drawingml/2006/main" noGrp="1"/>
          </p:cNvSpPr>
          <p:nvPr/>
        </p:nvSpPr>
        <p:spPr>
          <a:xfrm xmlns:a="http://schemas.openxmlformats.org/drawingml/2006/main">
            <a:off x="821055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Fine-tuned Qwen</a:t>
            </a:r>
          </a:p>
        </p:txBody>
      </p:sp>
      <p:sp>
        <p:nvSpPr>
          <p:cNvPr id="40" name="pipeline-stage-detail-5">
            <a:extLst xmlns:a="http://schemas.openxmlformats.org/drawingml/2006/main">
              <a:ext uri="{FF2B5EF4-FFF2-40B4-BE49-F238E27FC236}">
                <a16:creationId xmlns:a16="http://schemas.microsoft.com/office/drawing/2014/main" id="{4AB04547-0E3D-4982-AE4A-5D15E54E4717}"/>
              </a:ext>
            </a:extLst>
          </p:cNvPr>
          <p:cNvSpPr>
            <a:spLocks xmlns:a="http://schemas.openxmlformats.org/drawingml/2006/main" noGrp="1"/>
          </p:cNvSpPr>
          <p:nvPr/>
        </p:nvSpPr>
        <p:spPr>
          <a:xfrm xmlns:a="http://schemas.openxmlformats.org/drawingml/2006/main">
            <a:off x="821055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Verify evidence, explain</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impact, suggest a fix</a:t>
            </a:r>
          </a:p>
        </p:txBody>
      </p:sp>
      <p:sp>
        <p:nvSpPr>
          <p:cNvPr id="41" name="pipeline-stage-6">
            <a:extLst xmlns:a="http://schemas.openxmlformats.org/drawingml/2006/main">
              <a:ext uri="{FF2B5EF4-FFF2-40B4-BE49-F238E27FC236}">
                <a16:creationId xmlns:a16="http://schemas.microsoft.com/office/drawing/2014/main" id="{18E945D8-0146-4E3F-B7CB-918746838AA4}"/>
              </a:ext>
            </a:extLst>
          </p:cNvPr>
          <p:cNvSpPr>
            <a:spLocks xmlns:a="http://schemas.openxmlformats.org/drawingml/2006/main" noGrp="1"/>
          </p:cNvSpPr>
          <p:nvPr/>
        </p:nvSpPr>
        <p:spPr>
          <a:xfrm xmlns:a="http://schemas.openxmlformats.org/drawingml/2006/main">
            <a:off x="9925050" y="2266950"/>
            <a:ext cx="1657350" cy="2590800"/>
          </a:xfrm>
          <a:prstGeom xmlns:a="http://schemas.openxmlformats.org/drawingml/2006/main" prst="roundRect">
            <a:avLst>
              <a:gd name="adj" fmla="val 4598"/>
            </a:avLst>
          </a:prstGeom>
          <a:solidFill xmlns:a="http://schemas.openxmlformats.org/drawingml/2006/main">
            <a:srgbClr val="0C1A2C"/>
          </a:solidFill>
          <a:ln xmlns:a="http://schemas.openxmlformats.org/drawingml/2006/main" w="9525">
            <a:solidFill>
              <a:srgbClr val="20364F"/>
            </a:solidFill>
            <a:prstDash val="solid"/>
          </a:ln>
        </p:spPr>
      </p:sp>
      <p:sp>
        <p:nvSpPr>
          <p:cNvPr id="42" name="pipeline-stage-accent-6">
            <a:extLst xmlns:a="http://schemas.openxmlformats.org/drawingml/2006/main">
              <a:ext uri="{FF2B5EF4-FFF2-40B4-BE49-F238E27FC236}">
                <a16:creationId xmlns:a16="http://schemas.microsoft.com/office/drawing/2014/main" id="{0A79D0EA-AF51-437B-B550-FE1FADFC9726}"/>
              </a:ext>
            </a:extLst>
          </p:cNvPr>
          <p:cNvSpPr>
            <a:spLocks xmlns:a="http://schemas.openxmlformats.org/drawingml/2006/main" noGrp="1"/>
          </p:cNvSpPr>
          <p:nvPr/>
        </p:nvSpPr>
        <p:spPr>
          <a:xfrm xmlns:a="http://schemas.openxmlformats.org/drawingml/2006/main">
            <a:off x="10096500" y="2457450"/>
            <a:ext cx="514350" cy="38100"/>
          </a:xfrm>
          <a:prstGeom xmlns:a="http://schemas.openxmlformats.org/drawingml/2006/main" prst="rect">
            <a:avLst/>
          </a:prstGeom>
          <a:solidFill xmlns:a="http://schemas.openxmlformats.org/drawingml/2006/main">
            <a:srgbClr val="5AE0AA"/>
          </a:solidFill>
          <a:ln xmlns:a="http://schemas.openxmlformats.org/drawingml/2006/main" w="0">
            <a:solidFill>
              <a:srgbClr val="5AE0AA"/>
            </a:solidFill>
            <a:prstDash val="solid"/>
          </a:ln>
        </p:spPr>
      </p:sp>
      <p:sp>
        <p:nvSpPr>
          <p:cNvPr id="43" name="pipeline-stage-number-6">
            <a:extLst xmlns:a="http://schemas.openxmlformats.org/drawingml/2006/main">
              <a:ext uri="{FF2B5EF4-FFF2-40B4-BE49-F238E27FC236}">
                <a16:creationId xmlns:a16="http://schemas.microsoft.com/office/drawing/2014/main" id="{5D02ABF0-2E75-4228-A3FA-048790831DA9}"/>
              </a:ext>
            </a:extLst>
          </p:cNvPr>
          <p:cNvSpPr>
            <a:spLocks xmlns:a="http://schemas.openxmlformats.org/drawingml/2006/main" noGrp="1"/>
          </p:cNvSpPr>
          <p:nvPr/>
        </p:nvSpPr>
        <p:spPr>
          <a:xfrm xmlns:a="http://schemas.openxmlformats.org/drawingml/2006/main">
            <a:off x="10096500" y="2667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AE0AA"/>
                </a:solidFill>
                <a:latin typeface="Courier New"/>
                <a:ea typeface="Courier New"/>
                <a:cs typeface="Courier New"/>
              </a:defRPr>
            </a:pPr>
            <a:r>
              <a:rPr sz="1500" b="1">
                <a:solidFill>
                  <a:srgbClr val="5AE0AA"/>
                </a:solidFill>
                <a:latin typeface="Courier New"/>
                <a:ea typeface="Courier New"/>
                <a:cs typeface="Courier New"/>
              </a:rPr>
              <a:t>06</a:t>
            </a:r>
          </a:p>
        </p:txBody>
      </p:sp>
      <p:sp>
        <p:nvSpPr>
          <p:cNvPr id="44" name="pipeline-stage-label-6">
            <a:extLst xmlns:a="http://schemas.openxmlformats.org/drawingml/2006/main">
              <a:ext uri="{FF2B5EF4-FFF2-40B4-BE49-F238E27FC236}">
                <a16:creationId xmlns:a16="http://schemas.microsoft.com/office/drawing/2014/main" id="{538FE5BD-0E28-4DBD-BEF4-52B53F43B1F4}"/>
              </a:ext>
            </a:extLst>
          </p:cNvPr>
          <p:cNvSpPr>
            <a:spLocks xmlns:a="http://schemas.openxmlformats.org/drawingml/2006/main" noGrp="1"/>
          </p:cNvSpPr>
          <p:nvPr/>
        </p:nvSpPr>
        <p:spPr>
          <a:xfrm xmlns:a="http://schemas.openxmlformats.org/drawingml/2006/main">
            <a:off x="10096500" y="30670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DELIVER</a:t>
            </a:r>
          </a:p>
        </p:txBody>
      </p:sp>
      <p:sp>
        <p:nvSpPr>
          <p:cNvPr id="45" name="pipeline-stage-title-6">
            <a:extLst xmlns:a="http://schemas.openxmlformats.org/drawingml/2006/main">
              <a:ext uri="{FF2B5EF4-FFF2-40B4-BE49-F238E27FC236}">
                <a16:creationId xmlns:a16="http://schemas.microsoft.com/office/drawing/2014/main" id="{F8A5CD68-C681-4B7A-BC76-E95CE3084E19}"/>
              </a:ext>
            </a:extLst>
          </p:cNvPr>
          <p:cNvSpPr>
            <a:spLocks xmlns:a="http://schemas.openxmlformats.org/drawingml/2006/main" noGrp="1"/>
          </p:cNvSpPr>
          <p:nvPr/>
        </p:nvSpPr>
        <p:spPr>
          <a:xfrm xmlns:a="http://schemas.openxmlformats.org/drawingml/2006/main">
            <a:off x="10096500" y="3419475"/>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Pydantic → Streamlit</a:t>
            </a:r>
          </a:p>
        </p:txBody>
      </p:sp>
      <p:sp>
        <p:nvSpPr>
          <p:cNvPr id="46" name="pipeline-stage-detail-6">
            <a:extLst xmlns:a="http://schemas.openxmlformats.org/drawingml/2006/main">
              <a:ext uri="{FF2B5EF4-FFF2-40B4-BE49-F238E27FC236}">
                <a16:creationId xmlns:a16="http://schemas.microsoft.com/office/drawing/2014/main" id="{AE4B81AE-88CF-4CA1-82AE-0573C2E114EC}"/>
              </a:ext>
            </a:extLst>
          </p:cNvPr>
          <p:cNvSpPr>
            <a:spLocks xmlns:a="http://schemas.openxmlformats.org/drawingml/2006/main" noGrp="1"/>
          </p:cNvSpPr>
          <p:nvPr/>
        </p:nvSpPr>
        <p:spPr>
          <a:xfrm xmlns:a="http://schemas.openxmlformats.org/drawingml/2006/main">
            <a:off x="10096500" y="4019550"/>
            <a:ext cx="1314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Validate structure, stream,</a:t>
            </a:r>
          </a:p>
          <a:p xmlns:a="http://schemas.openxmlformats.org/drawingml/2006/main">
            <a:pPr algn="l">
              <a:defRPr sz="1050" b="0">
                <a:solidFill>
                  <a:srgbClr val="879DB3"/>
                </a:solidFill>
                <a:latin typeface="Arial"/>
                <a:ea typeface="Arial"/>
                <a:cs typeface="Arial"/>
              </a:defRPr>
            </a:pPr>
            <a:r>
              <a:rPr sz="1050" b="0">
                <a:solidFill>
                  <a:srgbClr val="879DB3"/>
                </a:solidFill>
                <a:latin typeface="Arial"/>
                <a:ea typeface="Arial"/>
                <a:cs typeface="Arial"/>
              </a:rPr>
              <a:t>save history, export JSON</a:t>
            </a:r>
          </a:p>
        </p:txBody>
      </p:sp>
      <p:cxnSp>
        <p:nvCxnSpPr>
          <p:cNvPr id="103" name=""/>
          <p:cNvCxnSpPr>
            <a:stCxn xmlns:a="http://schemas.openxmlformats.org/drawingml/2006/main" id="11" idx="3"/>
            <a:endCxn xmlns:a="http://schemas.openxmlformats.org/drawingml/2006/main" id="17" idx="1"/>
          </p:cNvCxnSpPr>
          <p:nvPr/>
        </p:nvCxnSpPr>
        <p:spPr>
          <a:xfrm xmlns:a="http://schemas.openxmlformats.org/drawingml/2006/main">
            <a:off x="2152650" y="3562350"/>
            <a:ext cx="228600" cy="0"/>
          </a:xfrm>
          <a:prstGeom xmlns:a="http://schemas.openxmlformats.org/drawingml/2006/main" prst="straightConnector1">
            <a:avLst/>
          </a:prstGeom>
          <a:ln xmlns:a="http://schemas.openxmlformats.org/drawingml/2006/main" w="19050">
            <a:solidFill>
              <a:srgbClr val="55DFF2"/>
            </a:solidFill>
            <a:prstDash val="solid"/>
            <a:tailEnd type="arrow" w="sm" len="sm"/>
          </a:ln>
        </p:spPr>
      </p:cxnSp>
      <p:cxnSp>
        <p:nvCxnSpPr>
          <p:cNvPr id="104" name=""/>
          <p:cNvCxnSpPr>
            <a:stCxn xmlns:a="http://schemas.openxmlformats.org/drawingml/2006/main" id="17" idx="3"/>
            <a:endCxn xmlns:a="http://schemas.openxmlformats.org/drawingml/2006/main" id="23" idx="1"/>
          </p:cNvCxnSpPr>
          <p:nvPr/>
        </p:nvCxnSpPr>
        <p:spPr>
          <a:xfrm xmlns:a="http://schemas.openxmlformats.org/drawingml/2006/main">
            <a:off x="4038600" y="3562350"/>
            <a:ext cx="228600" cy="0"/>
          </a:xfrm>
          <a:prstGeom xmlns:a="http://schemas.openxmlformats.org/drawingml/2006/main" prst="straightConnector1">
            <a:avLst/>
          </a:prstGeom>
          <a:ln xmlns:a="http://schemas.openxmlformats.org/drawingml/2006/main" w="19050">
            <a:solidFill>
              <a:srgbClr val="F7C95C"/>
            </a:solidFill>
            <a:prstDash val="solid"/>
            <a:tailEnd type="arrow" w="sm" len="sm"/>
          </a:ln>
        </p:spPr>
      </p:cxnSp>
      <p:cxnSp>
        <p:nvCxnSpPr>
          <p:cNvPr id="105" name=""/>
          <p:cNvCxnSpPr>
            <a:stCxn xmlns:a="http://schemas.openxmlformats.org/drawingml/2006/main" id="23" idx="3"/>
            <a:endCxn xmlns:a="http://schemas.openxmlformats.org/drawingml/2006/main" id="29" idx="1"/>
          </p:cNvCxnSpPr>
          <p:nvPr/>
        </p:nvCxnSpPr>
        <p:spPr>
          <a:xfrm xmlns:a="http://schemas.openxmlformats.org/drawingml/2006/main">
            <a:off x="5924550" y="3562350"/>
            <a:ext cx="228600" cy="0"/>
          </a:xfrm>
          <a:prstGeom xmlns:a="http://schemas.openxmlformats.org/drawingml/2006/main" prst="straightConnector1">
            <a:avLst/>
          </a:prstGeom>
          <a:ln xmlns:a="http://schemas.openxmlformats.org/drawingml/2006/main" w="19050">
            <a:solidFill>
              <a:srgbClr val="6D91FF"/>
            </a:solidFill>
            <a:prstDash val="solid"/>
            <a:tailEnd type="arrow" w="sm" len="sm"/>
          </a:ln>
        </p:spPr>
      </p:cxnSp>
      <p:cxnSp>
        <p:nvCxnSpPr>
          <p:cNvPr id="106" name=""/>
          <p:cNvCxnSpPr>
            <a:stCxn xmlns:a="http://schemas.openxmlformats.org/drawingml/2006/main" id="29" idx="3"/>
            <a:endCxn xmlns:a="http://schemas.openxmlformats.org/drawingml/2006/main" id="35" idx="1"/>
          </p:cNvCxnSpPr>
          <p:nvPr/>
        </p:nvCxnSpPr>
        <p:spPr>
          <a:xfrm xmlns:a="http://schemas.openxmlformats.org/drawingml/2006/main">
            <a:off x="7810500" y="3562350"/>
            <a:ext cx="228600" cy="0"/>
          </a:xfrm>
          <a:prstGeom xmlns:a="http://schemas.openxmlformats.org/drawingml/2006/main" prst="straightConnector1">
            <a:avLst/>
          </a:prstGeom>
          <a:ln xmlns:a="http://schemas.openxmlformats.org/drawingml/2006/main" w="19050">
            <a:solidFill>
              <a:srgbClr val="9678FF"/>
            </a:solidFill>
            <a:prstDash val="solid"/>
            <a:tailEnd type="arrow" w="sm" len="sm"/>
          </a:ln>
        </p:spPr>
      </p:cxnSp>
      <p:cxnSp>
        <p:nvCxnSpPr>
          <p:cNvPr id="107" name=""/>
          <p:cNvCxnSpPr>
            <a:stCxn xmlns:a="http://schemas.openxmlformats.org/drawingml/2006/main" id="35" idx="3"/>
            <a:endCxn xmlns:a="http://schemas.openxmlformats.org/drawingml/2006/main" id="41" idx="1"/>
          </p:cNvCxnSpPr>
          <p:nvPr/>
        </p:nvCxnSpPr>
        <p:spPr>
          <a:xfrm xmlns:a="http://schemas.openxmlformats.org/drawingml/2006/main">
            <a:off x="9696450" y="3562350"/>
            <a:ext cx="228600" cy="0"/>
          </a:xfrm>
          <a:prstGeom xmlns:a="http://schemas.openxmlformats.org/drawingml/2006/main" prst="straightConnector1">
            <a:avLst/>
          </a:prstGeom>
          <a:ln xmlns:a="http://schemas.openxmlformats.org/drawingml/2006/main" w="19050">
            <a:solidFill>
              <a:srgbClr val="5AE0AA"/>
            </a:solidFill>
            <a:prstDash val="solid"/>
            <a:tailEnd type="arrow" w="sm" len="sm"/>
          </a:ln>
        </p:spPr>
      </p:cxnSp>
      <p:sp>
        <p:nvSpPr>
          <p:cNvPr id="52" name="pipeline-safety-panel">
            <a:extLst xmlns:a="http://schemas.openxmlformats.org/drawingml/2006/main">
              <a:ext uri="{FF2B5EF4-FFF2-40B4-BE49-F238E27FC236}">
                <a16:creationId xmlns:a16="http://schemas.microsoft.com/office/drawing/2014/main" id="{1E44D8F8-74E9-4D1D-B855-10899D79DBA0}"/>
              </a:ext>
            </a:extLst>
          </p:cNvPr>
          <p:cNvSpPr>
            <a:spLocks xmlns:a="http://schemas.openxmlformats.org/drawingml/2006/main" noGrp="1"/>
          </p:cNvSpPr>
          <p:nvPr/>
        </p:nvSpPr>
        <p:spPr>
          <a:xfrm xmlns:a="http://schemas.openxmlformats.org/drawingml/2006/main">
            <a:off x="495300" y="5219700"/>
            <a:ext cx="11201400" cy="733425"/>
          </a:xfrm>
          <a:prstGeom xmlns:a="http://schemas.openxmlformats.org/drawingml/2006/main" prst="roundRect">
            <a:avLst>
              <a:gd name="adj" fmla="val 10390"/>
            </a:avLst>
          </a:prstGeom>
          <a:solidFill xmlns:a="http://schemas.openxmlformats.org/drawingml/2006/main">
            <a:srgbClr val="0A2034"/>
          </a:solidFill>
          <a:ln xmlns:a="http://schemas.openxmlformats.org/drawingml/2006/main" w="9525">
            <a:solidFill>
              <a:srgbClr val="20364F"/>
            </a:solidFill>
            <a:prstDash val="solid"/>
          </a:ln>
        </p:spPr>
      </p:sp>
      <p:sp>
        <p:nvSpPr>
          <p:cNvPr id="53" name="pipeline-safety-dot">
            <a:extLst xmlns:a="http://schemas.openxmlformats.org/drawingml/2006/main">
              <a:ext uri="{FF2B5EF4-FFF2-40B4-BE49-F238E27FC236}">
                <a16:creationId xmlns:a16="http://schemas.microsoft.com/office/drawing/2014/main" id="{BE7297BB-BB73-41ED-A6C7-14A0986ABA28}"/>
              </a:ext>
            </a:extLst>
          </p:cNvPr>
          <p:cNvSpPr>
            <a:spLocks xmlns:a="http://schemas.openxmlformats.org/drawingml/2006/main" noGrp="1"/>
          </p:cNvSpPr>
          <p:nvPr/>
        </p:nvSpPr>
        <p:spPr>
          <a:xfrm xmlns:a="http://schemas.openxmlformats.org/drawingml/2006/main">
            <a:off x="742950" y="5514975"/>
            <a:ext cx="95250" cy="95250"/>
          </a:xfrm>
          <a:prstGeom xmlns:a="http://schemas.openxmlformats.org/drawingml/2006/main" prst="ellipse">
            <a:avLst/>
          </a:prstGeom>
          <a:solidFill xmlns:a="http://schemas.openxmlformats.org/drawingml/2006/main">
            <a:srgbClr val="5AE0AA"/>
          </a:solidFill>
          <a:ln xmlns:a="http://schemas.openxmlformats.org/drawingml/2006/main" w="0">
            <a:solidFill>
              <a:srgbClr val="5AE0AA"/>
            </a:solidFill>
            <a:prstDash val="solid"/>
          </a:ln>
        </p:spPr>
      </p:sp>
      <p:sp>
        <p:nvSpPr>
          <p:cNvPr id="54" name="pipeline-safety-title">
            <a:extLst xmlns:a="http://schemas.openxmlformats.org/drawingml/2006/main">
              <a:ext uri="{FF2B5EF4-FFF2-40B4-BE49-F238E27FC236}">
                <a16:creationId xmlns:a16="http://schemas.microsoft.com/office/drawing/2014/main" id="{6230F238-F5A9-4FEB-9483-8C831F93AA1D}"/>
              </a:ext>
            </a:extLst>
          </p:cNvPr>
          <p:cNvSpPr>
            <a:spLocks xmlns:a="http://schemas.openxmlformats.org/drawingml/2006/main" noGrp="1"/>
          </p:cNvSpPr>
          <p:nvPr/>
        </p:nvSpPr>
        <p:spPr>
          <a:xfrm xmlns:a="http://schemas.openxmlformats.org/drawingml/2006/main">
            <a:off x="942975" y="54292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AE0AA"/>
                </a:solidFill>
                <a:latin typeface="Courier New"/>
                <a:ea typeface="Courier New"/>
                <a:cs typeface="Courier New"/>
              </a:defRPr>
            </a:pPr>
            <a:r>
              <a:rPr sz="1050" b="1">
                <a:solidFill>
                  <a:srgbClr val="5AE0AA"/>
                </a:solidFill>
                <a:latin typeface="Courier New"/>
                <a:ea typeface="Courier New"/>
                <a:cs typeface="Courier New"/>
              </a:rPr>
              <a:t>READ-ONLY REVIEW</a:t>
            </a:r>
          </a:p>
        </p:txBody>
      </p:sp>
      <p:sp>
        <p:nvSpPr>
          <p:cNvPr id="55" name="pipeline-safety-detail">
            <a:extLst xmlns:a="http://schemas.openxmlformats.org/drawingml/2006/main">
              <a:ext uri="{FF2B5EF4-FFF2-40B4-BE49-F238E27FC236}">
                <a16:creationId xmlns:a16="http://schemas.microsoft.com/office/drawing/2014/main" id="{EB82FE87-8B1E-4894-A633-CCB0E3C68F01}"/>
              </a:ext>
            </a:extLst>
          </p:cNvPr>
          <p:cNvSpPr>
            <a:spLocks xmlns:a="http://schemas.openxmlformats.org/drawingml/2006/main" noGrp="1"/>
          </p:cNvSpPr>
          <p:nvPr/>
        </p:nvSpPr>
        <p:spPr>
          <a:xfrm xmlns:a="http://schemas.openxmlformats.org/drawingml/2006/main">
            <a:off x="3048000" y="54006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DF6FF"/>
                </a:solidFill>
                <a:latin typeface="Arial"/>
                <a:ea typeface="Arial"/>
                <a:cs typeface="Arial"/>
              </a:defRPr>
            </a:pPr>
            <a:r>
              <a:rPr sz="1350" b="1">
                <a:solidFill>
                  <a:srgbClr val="EDF6FF"/>
                </a:solidFill>
                <a:latin typeface="Arial"/>
                <a:ea typeface="Arial"/>
                <a:cs typeface="Arial"/>
              </a:rPr>
              <a:t>Repository code is inspected for evidence—never imported or executed.</a:t>
            </a:r>
          </a:p>
        </p:txBody>
      </p:sp>
      <p:sp>
        <p:nvSpPr>
          <p:cNvPr id="56" name="pipeline-backend-detail">
            <a:extLst xmlns:a="http://schemas.openxmlformats.org/drawingml/2006/main">
              <a:ext uri="{FF2B5EF4-FFF2-40B4-BE49-F238E27FC236}">
                <a16:creationId xmlns:a16="http://schemas.microsoft.com/office/drawing/2014/main" id="{E1F4762D-A0C4-43DC-BE58-39455A2D14CA}"/>
              </a:ext>
            </a:extLst>
          </p:cNvPr>
          <p:cNvSpPr>
            <a:spLocks xmlns:a="http://schemas.openxmlformats.org/drawingml/2006/main" noGrp="1"/>
          </p:cNvSpPr>
          <p:nvPr/>
        </p:nvSpPr>
        <p:spPr>
          <a:xfrm xmlns:a="http://schemas.openxmlformats.org/drawingml/2006/main">
            <a:off x="6991350" y="5734050"/>
            <a:ext cx="4429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KAGGLE GPU BACKEND  →  FASTAPI + NGROK  →  LOCAL STREAMLIT</a:t>
            </a:r>
          </a:p>
        </p:txBody>
      </p:sp>
    </p:spTree>
    <p:extLst>
      <p:ext uri="{BB962C8B-B14F-4D97-AF65-F5344CB8AC3E}">
        <p14:creationId xmlns:p14="http://schemas.microsoft.com/office/powerpoint/2010/main" val="25785035"/>
      </p:ext>
    </p:extLst>
  </p:cSld>
</p:sld>
</file>

<file path=ppt/slides/slide5.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8D811192-A802-4F71-8B97-BA87C635ED5B}"/>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55148456-425D-4A1B-887F-56BBD9879CD5}"/>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0085D114-030D-4E8D-8D0C-75389DEDA1E7}"/>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5">
            <a:extLst xmlns:a="http://schemas.openxmlformats.org/drawingml/2006/main">
              <a:ext uri="{FF2B5EF4-FFF2-40B4-BE49-F238E27FC236}">
                <a16:creationId xmlns:a16="http://schemas.microsoft.com/office/drawing/2014/main" id="{4654BFCD-7897-43E4-8D0D-651D36A46BA2}"/>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LIVE DEMO / START</a:t>
            </a:r>
          </a:p>
        </p:txBody>
      </p:sp>
      <p:sp>
        <p:nvSpPr>
          <p:cNvPr id="5" name="chrome-event-5">
            <a:extLst xmlns:a="http://schemas.openxmlformats.org/drawingml/2006/main">
              <a:ext uri="{FF2B5EF4-FFF2-40B4-BE49-F238E27FC236}">
                <a16:creationId xmlns:a16="http://schemas.microsoft.com/office/drawing/2014/main" id="{F0EEF360-FE1F-4E09-9C8A-8B5C170280B7}"/>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5">
            <a:extLst xmlns:a="http://schemas.openxmlformats.org/drawingml/2006/main">
              <a:ext uri="{FF2B5EF4-FFF2-40B4-BE49-F238E27FC236}">
                <a16:creationId xmlns:a16="http://schemas.microsoft.com/office/drawing/2014/main" id="{006B8600-1660-4149-941B-38DDEF116E37}"/>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5">
            <a:extLst xmlns:a="http://schemas.openxmlformats.org/drawingml/2006/main">
              <a:ext uri="{FF2B5EF4-FFF2-40B4-BE49-F238E27FC236}">
                <a16:creationId xmlns:a16="http://schemas.microsoft.com/office/drawing/2014/main" id="{2383B8FE-6D0E-4678-A0D5-BDA460C8DA11}"/>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5">
            <a:extLst xmlns:a="http://schemas.openxmlformats.org/drawingml/2006/main">
              <a:ext uri="{FF2B5EF4-FFF2-40B4-BE49-F238E27FC236}">
                <a16:creationId xmlns:a16="http://schemas.microsoft.com/office/drawing/2014/main" id="{6FCFC59E-D958-4DA0-8C8A-A959BBF1DBED}"/>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05</a:t>
            </a:r>
          </a:p>
        </p:txBody>
      </p:sp>
      <p:sp>
        <p:nvSpPr>
          <p:cNvPr id="9" name="slide-eyebrow">
            <a:extLst xmlns:a="http://schemas.openxmlformats.org/drawingml/2006/main">
              <a:ext uri="{FF2B5EF4-FFF2-40B4-BE49-F238E27FC236}">
                <a16:creationId xmlns:a16="http://schemas.microsoft.com/office/drawing/2014/main" id="{FA35B0F9-8FEC-483C-A107-37C1850677B5}"/>
              </a:ext>
            </a:extLst>
          </p:cNvPr>
          <p:cNvSpPr>
            <a:spLocks xmlns:a="http://schemas.openxmlformats.org/drawingml/2006/main" noGrp="1"/>
          </p:cNvSpPr>
          <p:nvPr/>
        </p:nvSpPr>
        <p:spPr>
          <a:xfrm xmlns:a="http://schemas.openxmlformats.org/drawingml/2006/main">
            <a:off x="495300" y="6762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THE USER EXPERIENCE</a:t>
            </a:r>
          </a:p>
        </p:txBody>
      </p:sp>
      <p:sp>
        <p:nvSpPr>
          <p:cNvPr id="10" name="slide-title">
            <a:extLst xmlns:a="http://schemas.openxmlformats.org/drawingml/2006/main">
              <a:ext uri="{FF2B5EF4-FFF2-40B4-BE49-F238E27FC236}">
                <a16:creationId xmlns:a16="http://schemas.microsoft.com/office/drawing/2014/main" id="{FC43165D-820D-4A99-B925-0C021EA34784}"/>
              </a:ext>
            </a:extLst>
          </p:cNvPr>
          <p:cNvSpPr>
            <a:spLocks xmlns:a="http://schemas.openxmlformats.org/drawingml/2006/main" noGrp="1"/>
          </p:cNvSpPr>
          <p:nvPr/>
        </p:nvSpPr>
        <p:spPr>
          <a:xfrm xmlns:a="http://schemas.openxmlformats.org/drawingml/2006/main">
            <a:off x="495300" y="971550"/>
            <a:ext cx="5238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EDF6FF"/>
                </a:solidFill>
                <a:latin typeface="Arial"/>
                <a:ea typeface="Arial"/>
                <a:cs typeface="Arial"/>
              </a:defRPr>
            </a:pPr>
            <a:r>
              <a:rPr sz="3075" b="1">
                <a:solidFill>
                  <a:srgbClr val="EDF6FF"/>
                </a:solidFill>
                <a:latin typeface="Arial"/>
                <a:ea typeface="Arial"/>
                <a:cs typeface="Arial"/>
              </a:rPr>
              <a:t>One URL starts a live, read-only review.</a:t>
            </a:r>
          </a:p>
        </p:txBody>
      </p:sp>
      <p:sp>
        <p:nvSpPr>
          <p:cNvPr id="11" name="action-number-01">
            <a:extLst xmlns:a="http://schemas.openxmlformats.org/drawingml/2006/main">
              <a:ext uri="{FF2B5EF4-FFF2-40B4-BE49-F238E27FC236}">
                <a16:creationId xmlns:a16="http://schemas.microsoft.com/office/drawing/2014/main" id="{98519E7F-D28E-4F16-B992-AFA5D65750D2}"/>
              </a:ext>
            </a:extLst>
          </p:cNvPr>
          <p:cNvSpPr>
            <a:spLocks xmlns:a="http://schemas.openxmlformats.org/drawingml/2006/main" noGrp="1"/>
          </p:cNvSpPr>
          <p:nvPr/>
        </p:nvSpPr>
        <p:spPr>
          <a:xfrm xmlns:a="http://schemas.openxmlformats.org/drawingml/2006/main">
            <a:off x="495300" y="233362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55DFF2"/>
                </a:solidFill>
                <a:latin typeface="Courier New"/>
                <a:ea typeface="Courier New"/>
                <a:cs typeface="Courier New"/>
              </a:defRPr>
            </a:pPr>
            <a:r>
              <a:rPr sz="1500" b="1">
                <a:solidFill>
                  <a:srgbClr val="55DFF2"/>
                </a:solidFill>
                <a:latin typeface="Courier New"/>
                <a:ea typeface="Courier New"/>
                <a:cs typeface="Courier New"/>
              </a:rPr>
              <a:t>01</a:t>
            </a:r>
          </a:p>
        </p:txBody>
      </p:sp>
      <p:sp>
        <p:nvSpPr>
          <p:cNvPr id="12" name="action-rule-01">
            <a:extLst xmlns:a="http://schemas.openxmlformats.org/drawingml/2006/main">
              <a:ext uri="{FF2B5EF4-FFF2-40B4-BE49-F238E27FC236}">
                <a16:creationId xmlns:a16="http://schemas.microsoft.com/office/drawing/2014/main" id="{B312262E-8FA0-4CF7-BD62-C878D89460E6}"/>
              </a:ext>
            </a:extLst>
          </p:cNvPr>
          <p:cNvSpPr>
            <a:spLocks xmlns:a="http://schemas.openxmlformats.org/drawingml/2006/main" noGrp="1"/>
          </p:cNvSpPr>
          <p:nvPr/>
        </p:nvSpPr>
        <p:spPr>
          <a:xfrm xmlns:a="http://schemas.openxmlformats.org/drawingml/2006/main">
            <a:off x="962025" y="2409825"/>
            <a:ext cx="3724275"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13" name="action-title-01">
            <a:extLst xmlns:a="http://schemas.openxmlformats.org/drawingml/2006/main">
              <a:ext uri="{FF2B5EF4-FFF2-40B4-BE49-F238E27FC236}">
                <a16:creationId xmlns:a16="http://schemas.microsoft.com/office/drawing/2014/main" id="{5C9F42B1-972A-4712-A4E7-AFC08437926A}"/>
              </a:ext>
            </a:extLst>
          </p:cNvPr>
          <p:cNvSpPr>
            <a:spLocks xmlns:a="http://schemas.openxmlformats.org/drawingml/2006/main" noGrp="1"/>
          </p:cNvSpPr>
          <p:nvPr/>
        </p:nvSpPr>
        <p:spPr>
          <a:xfrm xmlns:a="http://schemas.openxmlformats.org/drawingml/2006/main">
            <a:off x="962025" y="2514600"/>
            <a:ext cx="37242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EDF6FF"/>
                </a:solidFill>
                <a:latin typeface="Arial"/>
                <a:ea typeface="Arial"/>
                <a:cs typeface="Arial"/>
              </a:defRPr>
            </a:pPr>
            <a:r>
              <a:rPr sz="1575" b="1">
                <a:solidFill>
                  <a:srgbClr val="EDF6FF"/>
                </a:solidFill>
                <a:latin typeface="Arial"/>
                <a:ea typeface="Arial"/>
                <a:cs typeface="Arial"/>
              </a:rPr>
              <a:t>Paste a public GitHub URL</a:t>
            </a:r>
          </a:p>
        </p:txBody>
      </p:sp>
      <p:sp>
        <p:nvSpPr>
          <p:cNvPr id="14" name="action-detail-01">
            <a:extLst xmlns:a="http://schemas.openxmlformats.org/drawingml/2006/main">
              <a:ext uri="{FF2B5EF4-FFF2-40B4-BE49-F238E27FC236}">
                <a16:creationId xmlns:a16="http://schemas.microsoft.com/office/drawing/2014/main" id="{B0D1B6D2-6EE7-46D4-BE23-4420BA0CCF3A}"/>
              </a:ext>
            </a:extLst>
          </p:cNvPr>
          <p:cNvSpPr>
            <a:spLocks xmlns:a="http://schemas.openxmlformats.org/drawingml/2006/main" noGrp="1"/>
          </p:cNvSpPr>
          <p:nvPr/>
        </p:nvSpPr>
        <p:spPr>
          <a:xfrm xmlns:a="http://schemas.openxmlformats.org/drawingml/2006/main">
            <a:off x="962025" y="2867025"/>
            <a:ext cx="3724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879DB3"/>
                </a:solidFill>
                <a:latin typeface="Arial"/>
                <a:ea typeface="Arial"/>
                <a:cs typeface="Arial"/>
              </a:defRPr>
            </a:pPr>
            <a:r>
              <a:rPr sz="1200" b="0">
                <a:solidFill>
                  <a:srgbClr val="879DB3"/>
                </a:solidFill>
                <a:latin typeface="Arial"/>
                <a:ea typeface="Arial"/>
                <a:cs typeface="Arial"/>
              </a:rPr>
              <a:t>Direct repository links only.</a:t>
            </a:r>
          </a:p>
        </p:txBody>
      </p:sp>
      <p:sp>
        <p:nvSpPr>
          <p:cNvPr id="15" name="action-number-02">
            <a:extLst xmlns:a="http://schemas.openxmlformats.org/drawingml/2006/main">
              <a:ext uri="{FF2B5EF4-FFF2-40B4-BE49-F238E27FC236}">
                <a16:creationId xmlns:a16="http://schemas.microsoft.com/office/drawing/2014/main" id="{6C35E326-AA82-4313-A002-98AEAD349B61}"/>
              </a:ext>
            </a:extLst>
          </p:cNvPr>
          <p:cNvSpPr>
            <a:spLocks xmlns:a="http://schemas.openxmlformats.org/drawingml/2006/main" noGrp="1"/>
          </p:cNvSpPr>
          <p:nvPr/>
        </p:nvSpPr>
        <p:spPr>
          <a:xfrm xmlns:a="http://schemas.openxmlformats.org/drawingml/2006/main">
            <a:off x="495300" y="347662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6D91FF"/>
                </a:solidFill>
                <a:latin typeface="Courier New"/>
                <a:ea typeface="Courier New"/>
                <a:cs typeface="Courier New"/>
              </a:defRPr>
            </a:pPr>
            <a:r>
              <a:rPr sz="1500" b="1">
                <a:solidFill>
                  <a:srgbClr val="6D91FF"/>
                </a:solidFill>
                <a:latin typeface="Courier New"/>
                <a:ea typeface="Courier New"/>
                <a:cs typeface="Courier New"/>
              </a:rPr>
              <a:t>02</a:t>
            </a:r>
          </a:p>
        </p:txBody>
      </p:sp>
      <p:sp>
        <p:nvSpPr>
          <p:cNvPr id="16" name="action-rule-02">
            <a:extLst xmlns:a="http://schemas.openxmlformats.org/drawingml/2006/main">
              <a:ext uri="{FF2B5EF4-FFF2-40B4-BE49-F238E27FC236}">
                <a16:creationId xmlns:a16="http://schemas.microsoft.com/office/drawing/2014/main" id="{78C8A59A-1F22-407A-B262-75D8C59D0700}"/>
              </a:ext>
            </a:extLst>
          </p:cNvPr>
          <p:cNvSpPr>
            <a:spLocks xmlns:a="http://schemas.openxmlformats.org/drawingml/2006/main" noGrp="1"/>
          </p:cNvSpPr>
          <p:nvPr/>
        </p:nvSpPr>
        <p:spPr>
          <a:xfrm xmlns:a="http://schemas.openxmlformats.org/drawingml/2006/main">
            <a:off x="962025" y="3552825"/>
            <a:ext cx="3724275"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17" name="action-title-02">
            <a:extLst xmlns:a="http://schemas.openxmlformats.org/drawingml/2006/main">
              <a:ext uri="{FF2B5EF4-FFF2-40B4-BE49-F238E27FC236}">
                <a16:creationId xmlns:a16="http://schemas.microsoft.com/office/drawing/2014/main" id="{3FDAD1D2-FCA2-4E83-902D-0BD9B2FA4484}"/>
              </a:ext>
            </a:extLst>
          </p:cNvPr>
          <p:cNvSpPr>
            <a:spLocks xmlns:a="http://schemas.openxmlformats.org/drawingml/2006/main" noGrp="1"/>
          </p:cNvSpPr>
          <p:nvPr/>
        </p:nvSpPr>
        <p:spPr>
          <a:xfrm xmlns:a="http://schemas.openxmlformats.org/drawingml/2006/main">
            <a:off x="962025" y="3657600"/>
            <a:ext cx="37242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EDF6FF"/>
                </a:solidFill>
                <a:latin typeface="Arial"/>
                <a:ea typeface="Arial"/>
                <a:cs typeface="Arial"/>
              </a:defRPr>
            </a:pPr>
            <a:r>
              <a:rPr sz="1575" b="1">
                <a:solidFill>
                  <a:srgbClr val="EDF6FF"/>
                </a:solidFill>
                <a:latin typeface="Arial"/>
                <a:ea typeface="Arial"/>
                <a:cs typeface="Arial"/>
              </a:rPr>
              <a:t>Choose the review size</a:t>
            </a:r>
          </a:p>
        </p:txBody>
      </p:sp>
      <p:sp>
        <p:nvSpPr>
          <p:cNvPr id="18" name="action-detail-02">
            <a:extLst xmlns:a="http://schemas.openxmlformats.org/drawingml/2006/main">
              <a:ext uri="{FF2B5EF4-FFF2-40B4-BE49-F238E27FC236}">
                <a16:creationId xmlns:a16="http://schemas.microsoft.com/office/drawing/2014/main" id="{5EAB1091-556E-4239-88FE-F2873A83ED15}"/>
              </a:ext>
            </a:extLst>
          </p:cNvPr>
          <p:cNvSpPr>
            <a:spLocks xmlns:a="http://schemas.openxmlformats.org/drawingml/2006/main" noGrp="1"/>
          </p:cNvSpPr>
          <p:nvPr/>
        </p:nvSpPr>
        <p:spPr>
          <a:xfrm xmlns:a="http://schemas.openxmlformats.org/drawingml/2006/main">
            <a:off x="962025" y="4010025"/>
            <a:ext cx="3724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879DB3"/>
                </a:solidFill>
                <a:latin typeface="Arial"/>
                <a:ea typeface="Arial"/>
                <a:cs typeface="Arial"/>
              </a:defRPr>
            </a:pPr>
            <a:r>
              <a:rPr sz="1200" b="0">
                <a:solidFill>
                  <a:srgbClr val="879DB3"/>
                </a:solidFill>
                <a:latin typeface="Arial"/>
                <a:ea typeface="Arial"/>
                <a:cs typeface="Arial"/>
              </a:rPr>
              <a:t>Select 1–50 Python files for model review.</a:t>
            </a:r>
          </a:p>
        </p:txBody>
      </p:sp>
      <p:sp>
        <p:nvSpPr>
          <p:cNvPr id="19" name="action-number-03">
            <a:extLst xmlns:a="http://schemas.openxmlformats.org/drawingml/2006/main">
              <a:ext uri="{FF2B5EF4-FFF2-40B4-BE49-F238E27FC236}">
                <a16:creationId xmlns:a16="http://schemas.microsoft.com/office/drawing/2014/main" id="{0513CBB0-3D88-4B01-BD5C-BD3C004454FD}"/>
              </a:ext>
            </a:extLst>
          </p:cNvPr>
          <p:cNvSpPr>
            <a:spLocks xmlns:a="http://schemas.openxmlformats.org/drawingml/2006/main" noGrp="1"/>
          </p:cNvSpPr>
          <p:nvPr/>
        </p:nvSpPr>
        <p:spPr>
          <a:xfrm xmlns:a="http://schemas.openxmlformats.org/drawingml/2006/main">
            <a:off x="495300" y="4619625"/>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9678FF"/>
                </a:solidFill>
                <a:latin typeface="Courier New"/>
                <a:ea typeface="Courier New"/>
                <a:cs typeface="Courier New"/>
              </a:defRPr>
            </a:pPr>
            <a:r>
              <a:rPr sz="1500" b="1">
                <a:solidFill>
                  <a:srgbClr val="9678FF"/>
                </a:solidFill>
                <a:latin typeface="Courier New"/>
                <a:ea typeface="Courier New"/>
                <a:cs typeface="Courier New"/>
              </a:rPr>
              <a:t>03</a:t>
            </a:r>
          </a:p>
        </p:txBody>
      </p:sp>
      <p:sp>
        <p:nvSpPr>
          <p:cNvPr id="20" name="action-rule-03">
            <a:extLst xmlns:a="http://schemas.openxmlformats.org/drawingml/2006/main">
              <a:ext uri="{FF2B5EF4-FFF2-40B4-BE49-F238E27FC236}">
                <a16:creationId xmlns:a16="http://schemas.microsoft.com/office/drawing/2014/main" id="{3D52456F-290A-47AF-AB5F-F3B14D3D7395}"/>
              </a:ext>
            </a:extLst>
          </p:cNvPr>
          <p:cNvSpPr>
            <a:spLocks xmlns:a="http://schemas.openxmlformats.org/drawingml/2006/main" noGrp="1"/>
          </p:cNvSpPr>
          <p:nvPr/>
        </p:nvSpPr>
        <p:spPr>
          <a:xfrm xmlns:a="http://schemas.openxmlformats.org/drawingml/2006/main">
            <a:off x="962025" y="4695825"/>
            <a:ext cx="3724275"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21" name="action-title-03">
            <a:extLst xmlns:a="http://schemas.openxmlformats.org/drawingml/2006/main">
              <a:ext uri="{FF2B5EF4-FFF2-40B4-BE49-F238E27FC236}">
                <a16:creationId xmlns:a16="http://schemas.microsoft.com/office/drawing/2014/main" id="{603E936D-FB3A-40B2-B708-B9A9F7F33EFF}"/>
              </a:ext>
            </a:extLst>
          </p:cNvPr>
          <p:cNvSpPr>
            <a:spLocks xmlns:a="http://schemas.openxmlformats.org/drawingml/2006/main" noGrp="1"/>
          </p:cNvSpPr>
          <p:nvPr/>
        </p:nvSpPr>
        <p:spPr>
          <a:xfrm xmlns:a="http://schemas.openxmlformats.org/drawingml/2006/main">
            <a:off x="962025" y="4800600"/>
            <a:ext cx="37242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EDF6FF"/>
                </a:solidFill>
                <a:latin typeface="Arial"/>
                <a:ea typeface="Arial"/>
                <a:cs typeface="Arial"/>
              </a:defRPr>
            </a:pPr>
            <a:r>
              <a:rPr sz="1575" b="1">
                <a:solidFill>
                  <a:srgbClr val="EDF6FF"/>
                </a:solidFill>
                <a:latin typeface="Arial"/>
                <a:ea typeface="Arial"/>
                <a:cs typeface="Arial"/>
              </a:rPr>
              <a:t>Watch progress stream live</a:t>
            </a:r>
          </a:p>
        </p:txBody>
      </p:sp>
      <p:sp>
        <p:nvSpPr>
          <p:cNvPr id="22" name="action-detail-03">
            <a:extLst xmlns:a="http://schemas.openxmlformats.org/drawingml/2006/main">
              <a:ext uri="{FF2B5EF4-FFF2-40B4-BE49-F238E27FC236}">
                <a16:creationId xmlns:a16="http://schemas.microsoft.com/office/drawing/2014/main" id="{DADEF7E9-2FAF-4DCA-9502-48F3E26D67C7}"/>
              </a:ext>
            </a:extLst>
          </p:cNvPr>
          <p:cNvSpPr>
            <a:spLocks xmlns:a="http://schemas.openxmlformats.org/drawingml/2006/main" noGrp="1"/>
          </p:cNvSpPr>
          <p:nvPr/>
        </p:nvSpPr>
        <p:spPr>
          <a:xfrm xmlns:a="http://schemas.openxmlformats.org/drawingml/2006/main">
            <a:off x="962025" y="5153025"/>
            <a:ext cx="3724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879DB3"/>
                </a:solidFill>
                <a:latin typeface="Arial"/>
                <a:ea typeface="Arial"/>
                <a:cs typeface="Arial"/>
              </a:defRPr>
            </a:pPr>
            <a:r>
              <a:rPr sz="1200" b="0">
                <a:solidFill>
                  <a:srgbClr val="879DB3"/>
                </a:solidFill>
                <a:latin typeface="Arial"/>
                <a:ea typeface="Arial"/>
                <a:cs typeface="Arial"/>
              </a:rPr>
              <a:t>Scanner clues and AI-supported findings arrive as events.</a:t>
            </a:r>
          </a:p>
        </p:txBody>
      </p:sp>
      <p:sp>
        <p:nvSpPr>
          <p:cNvPr id="23" name="scan-interface-panel">
            <a:extLst xmlns:a="http://schemas.openxmlformats.org/drawingml/2006/main">
              <a:ext uri="{FF2B5EF4-FFF2-40B4-BE49-F238E27FC236}">
                <a16:creationId xmlns:a16="http://schemas.microsoft.com/office/drawing/2014/main" id="{B1E05A8B-EB97-43B3-874B-0C421F1E7573}"/>
              </a:ext>
            </a:extLst>
          </p:cNvPr>
          <p:cNvSpPr>
            <a:spLocks xmlns:a="http://schemas.openxmlformats.org/drawingml/2006/main" noGrp="1"/>
          </p:cNvSpPr>
          <p:nvPr/>
        </p:nvSpPr>
        <p:spPr>
          <a:xfrm xmlns:a="http://schemas.openxmlformats.org/drawingml/2006/main">
            <a:off x="5095875" y="1695450"/>
            <a:ext cx="6600825" cy="3743325"/>
          </a:xfrm>
          <a:prstGeom xmlns:a="http://schemas.openxmlformats.org/drawingml/2006/main" prst="roundRect">
            <a:avLst>
              <a:gd name="adj" fmla="val 2036"/>
            </a:avLst>
          </a:prstGeom>
          <a:solidFill xmlns:a="http://schemas.openxmlformats.org/drawingml/2006/main">
            <a:srgbClr val="0C1A2C"/>
          </a:solidFill>
          <a:ln xmlns:a="http://schemas.openxmlformats.org/drawingml/2006/main" w="9525">
            <a:solidFill>
              <a:srgbClr val="20364F"/>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c4840d919514b08"/>
          <a:stretch xmlns:a="http://schemas.openxmlformats.org/drawingml/2006/main"/>
        </p:blipFill>
        <p:spPr>
          <a:xfrm xmlns:a="http://schemas.openxmlformats.org/drawingml/2006/main">
            <a:off x="5248275" y="2158143"/>
            <a:ext cx="6296025" cy="2817939"/>
          </a:xfrm>
          <a:prstGeom xmlns:a="http://schemas.openxmlformats.org/drawingml/2006/main" prst="roundRect">
            <a:avLst>
              <a:gd name="adj" fmla="val 2216"/>
            </a:avLst>
          </a:prstGeom>
        </p:spPr>
      </p:pic>
      <p:sp>
        <p:nvSpPr>
          <p:cNvPr id="25" name="scan-status-panel">
            <a:extLst xmlns:a="http://schemas.openxmlformats.org/drawingml/2006/main">
              <a:ext uri="{FF2B5EF4-FFF2-40B4-BE49-F238E27FC236}">
                <a16:creationId xmlns:a16="http://schemas.microsoft.com/office/drawing/2014/main" id="{E794B537-1304-488C-8C55-F1DD880B4212}"/>
              </a:ext>
            </a:extLst>
          </p:cNvPr>
          <p:cNvSpPr>
            <a:spLocks xmlns:a="http://schemas.openxmlformats.org/drawingml/2006/main" noGrp="1"/>
          </p:cNvSpPr>
          <p:nvPr/>
        </p:nvSpPr>
        <p:spPr>
          <a:xfrm xmlns:a="http://schemas.openxmlformats.org/drawingml/2006/main">
            <a:off x="8001000" y="5619750"/>
            <a:ext cx="3695700" cy="457200"/>
          </a:xfrm>
          <a:prstGeom xmlns:a="http://schemas.openxmlformats.org/drawingml/2006/main" prst="roundRect">
            <a:avLst>
              <a:gd name="adj" fmla="val 16667"/>
            </a:avLst>
          </a:prstGeom>
          <a:solidFill xmlns:a="http://schemas.openxmlformats.org/drawingml/2006/main">
            <a:srgbClr val="0A2034"/>
          </a:solidFill>
          <a:ln xmlns:a="http://schemas.openxmlformats.org/drawingml/2006/main" w="9525">
            <a:solidFill>
              <a:srgbClr val="20364F"/>
            </a:solidFill>
            <a:prstDash val="solid"/>
          </a:ln>
        </p:spPr>
      </p:sp>
      <p:sp>
        <p:nvSpPr>
          <p:cNvPr id="26" name="scan-connected-dot">
            <a:extLst xmlns:a="http://schemas.openxmlformats.org/drawingml/2006/main">
              <a:ext uri="{FF2B5EF4-FFF2-40B4-BE49-F238E27FC236}">
                <a16:creationId xmlns:a16="http://schemas.microsoft.com/office/drawing/2014/main" id="{A19ACA16-76A4-4969-B56F-97DBD0FD5CB6}"/>
              </a:ext>
            </a:extLst>
          </p:cNvPr>
          <p:cNvSpPr>
            <a:spLocks xmlns:a="http://schemas.openxmlformats.org/drawingml/2006/main" noGrp="1"/>
          </p:cNvSpPr>
          <p:nvPr/>
        </p:nvSpPr>
        <p:spPr>
          <a:xfrm xmlns:a="http://schemas.openxmlformats.org/drawingml/2006/main">
            <a:off x="8201025" y="5800725"/>
            <a:ext cx="95250" cy="95250"/>
          </a:xfrm>
          <a:prstGeom xmlns:a="http://schemas.openxmlformats.org/drawingml/2006/main" prst="ellipse">
            <a:avLst/>
          </a:prstGeom>
          <a:solidFill xmlns:a="http://schemas.openxmlformats.org/drawingml/2006/main">
            <a:srgbClr val="5AE0AA"/>
          </a:solidFill>
          <a:ln xmlns:a="http://schemas.openxmlformats.org/drawingml/2006/main" w="0">
            <a:solidFill>
              <a:srgbClr val="5AE0AA"/>
            </a:solidFill>
            <a:prstDash val="solid"/>
          </a:ln>
        </p:spPr>
      </p:sp>
      <p:sp>
        <p:nvSpPr>
          <p:cNvPr id="27" name="scan-connected-text">
            <a:extLst xmlns:a="http://schemas.openxmlformats.org/drawingml/2006/main">
              <a:ext uri="{FF2B5EF4-FFF2-40B4-BE49-F238E27FC236}">
                <a16:creationId xmlns:a16="http://schemas.microsoft.com/office/drawing/2014/main" id="{09772EBD-E8D9-4DC1-B947-A93437329098}"/>
              </a:ext>
            </a:extLst>
          </p:cNvPr>
          <p:cNvSpPr>
            <a:spLocks xmlns:a="http://schemas.openxmlformats.org/drawingml/2006/main" noGrp="1"/>
          </p:cNvSpPr>
          <p:nvPr/>
        </p:nvSpPr>
        <p:spPr>
          <a:xfrm xmlns:a="http://schemas.openxmlformats.org/drawingml/2006/main">
            <a:off x="8391525" y="5734050"/>
            <a:ext cx="3105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AE0AA"/>
                </a:solidFill>
                <a:latin typeface="Courier New"/>
                <a:ea typeface="Courier New"/>
                <a:cs typeface="Courier New"/>
              </a:defRPr>
            </a:pPr>
            <a:r>
              <a:rPr sz="975" b="1">
                <a:solidFill>
                  <a:srgbClr val="5AE0AA"/>
                </a:solidFill>
                <a:latin typeface="Courier New"/>
                <a:ea typeface="Courier New"/>
                <a:cs typeface="Courier New"/>
              </a:rPr>
              <a:t>KAGGLE GPU BACKEND CONNECTED</a:t>
            </a:r>
          </a:p>
        </p:txBody>
      </p:sp>
    </p:spTree>
    <p:extLst>
      <p:ext uri="{BB962C8B-B14F-4D97-AF65-F5344CB8AC3E}">
        <p14:creationId xmlns:p14="http://schemas.microsoft.com/office/powerpoint/2010/main" val="1583479799"/>
      </p:ext>
    </p:extLst>
  </p:cSld>
</p:sld>
</file>

<file path=ppt/slides/slide6.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020FC952-5C3D-4279-B7DD-2E0914112BBA}"/>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587E5A1B-E7E6-48F5-815E-1FEF331A0BE2}"/>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C9A8EF2F-6487-43DA-8A6D-D5E48CDB4CE0}"/>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6">
            <a:extLst xmlns:a="http://schemas.openxmlformats.org/drawingml/2006/main">
              <a:ext uri="{FF2B5EF4-FFF2-40B4-BE49-F238E27FC236}">
                <a16:creationId xmlns:a16="http://schemas.microsoft.com/office/drawing/2014/main" id="{141C0AB4-6E77-4225-8257-E0B2659963A8}"/>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LIVE DEMO / FINDING</a:t>
            </a:r>
          </a:p>
        </p:txBody>
      </p:sp>
      <p:sp>
        <p:nvSpPr>
          <p:cNvPr id="5" name="chrome-event-6">
            <a:extLst xmlns:a="http://schemas.openxmlformats.org/drawingml/2006/main">
              <a:ext uri="{FF2B5EF4-FFF2-40B4-BE49-F238E27FC236}">
                <a16:creationId xmlns:a16="http://schemas.microsoft.com/office/drawing/2014/main" id="{A67DA3CD-3BC9-44CA-9623-DDE4A0F243F2}"/>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6">
            <a:extLst xmlns:a="http://schemas.openxmlformats.org/drawingml/2006/main">
              <a:ext uri="{FF2B5EF4-FFF2-40B4-BE49-F238E27FC236}">
                <a16:creationId xmlns:a16="http://schemas.microsoft.com/office/drawing/2014/main" id="{9CC9306A-9429-4B30-8754-F8DA653168CA}"/>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6">
            <a:extLst xmlns:a="http://schemas.openxmlformats.org/drawingml/2006/main">
              <a:ext uri="{FF2B5EF4-FFF2-40B4-BE49-F238E27FC236}">
                <a16:creationId xmlns:a16="http://schemas.microsoft.com/office/drawing/2014/main" id="{3F29DE5C-D3F1-44A1-8EAF-725D2D7999BE}"/>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6">
            <a:extLst xmlns:a="http://schemas.openxmlformats.org/drawingml/2006/main">
              <a:ext uri="{FF2B5EF4-FFF2-40B4-BE49-F238E27FC236}">
                <a16:creationId xmlns:a16="http://schemas.microsoft.com/office/drawing/2014/main" id="{7ED06E8E-D4BF-4ED1-95EF-E8ACC17E7393}"/>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06</a:t>
            </a:r>
          </a:p>
        </p:txBody>
      </p:sp>
      <p:sp>
        <p:nvSpPr>
          <p:cNvPr id="9" name="slide-eyebrow">
            <a:extLst xmlns:a="http://schemas.openxmlformats.org/drawingml/2006/main">
              <a:ext uri="{FF2B5EF4-FFF2-40B4-BE49-F238E27FC236}">
                <a16:creationId xmlns:a16="http://schemas.microsoft.com/office/drawing/2014/main" id="{6E196F50-6F9E-4519-8248-F08DD3B2066B}"/>
              </a:ext>
            </a:extLst>
          </p:cNvPr>
          <p:cNvSpPr>
            <a:spLocks xmlns:a="http://schemas.openxmlformats.org/drawingml/2006/main" noGrp="1"/>
          </p:cNvSpPr>
          <p:nvPr/>
        </p:nvSpPr>
        <p:spPr>
          <a:xfrm xmlns:a="http://schemas.openxmlformats.org/drawingml/2006/main">
            <a:off x="495300" y="6762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EVIDENCE-FIRST OUTPUT</a:t>
            </a:r>
          </a:p>
        </p:txBody>
      </p:sp>
      <p:sp>
        <p:nvSpPr>
          <p:cNvPr id="10" name="slide-title">
            <a:extLst xmlns:a="http://schemas.openxmlformats.org/drawingml/2006/main">
              <a:ext uri="{FF2B5EF4-FFF2-40B4-BE49-F238E27FC236}">
                <a16:creationId xmlns:a16="http://schemas.microsoft.com/office/drawing/2014/main" id="{3ADE33C5-9A2D-409C-B49B-F5E1448DAF9B}"/>
              </a:ext>
            </a:extLst>
          </p:cNvPr>
          <p:cNvSpPr>
            <a:spLocks xmlns:a="http://schemas.openxmlformats.org/drawingml/2006/main" noGrp="1"/>
          </p:cNvSpPr>
          <p:nvPr/>
        </p:nvSpPr>
        <p:spPr>
          <a:xfrm xmlns:a="http://schemas.openxmlformats.org/drawingml/2006/main">
            <a:off x="495300" y="971550"/>
            <a:ext cx="1123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EDF6FF"/>
                </a:solidFill>
                <a:latin typeface="Arial"/>
                <a:ea typeface="Arial"/>
                <a:cs typeface="Arial"/>
              </a:defRPr>
            </a:pPr>
            <a:r>
              <a:rPr sz="3150" b="1">
                <a:solidFill>
                  <a:srgbClr val="EDF6FF"/>
                </a:solidFill>
                <a:latin typeface="Arial"/>
                <a:ea typeface="Arial"/>
                <a:cs typeface="Arial"/>
              </a:rPr>
              <a:t>Evidence stays attached to every fix.</a:t>
            </a:r>
          </a:p>
        </p:txBody>
      </p:sp>
      <p:sp>
        <p:nvSpPr>
          <p:cNvPr id="11" name="finding-lifecycle">
            <a:extLst xmlns:a="http://schemas.openxmlformats.org/drawingml/2006/main">
              <a:ext uri="{FF2B5EF4-FFF2-40B4-BE49-F238E27FC236}">
                <a16:creationId xmlns:a16="http://schemas.microsoft.com/office/drawing/2014/main" id="{D3D622B7-F79B-49FF-86C8-F73758AF9EDF}"/>
              </a:ext>
            </a:extLst>
          </p:cNvPr>
          <p:cNvSpPr>
            <a:spLocks xmlns:a="http://schemas.openxmlformats.org/drawingml/2006/main" noGrp="1"/>
          </p:cNvSpPr>
          <p:nvPr/>
        </p:nvSpPr>
        <p:spPr>
          <a:xfrm xmlns:a="http://schemas.openxmlformats.org/drawingml/2006/main">
            <a:off x="495300" y="1790700"/>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879DB3"/>
                </a:solidFill>
                <a:latin typeface="Courier New"/>
                <a:ea typeface="Courier New"/>
                <a:cs typeface="Courier New"/>
              </a:defRPr>
            </a:pPr>
            <a:r>
              <a:rPr sz="1050" b="1">
                <a:solidFill>
                  <a:srgbClr val="879DB3"/>
                </a:solidFill>
                <a:latin typeface="Courier New"/>
                <a:ea typeface="Courier New"/>
                <a:cs typeface="Courier New"/>
              </a:rPr>
              <a:t>EVIDENCE  →  ANALYSIS  →  RECOMMENDED FIX  →  VERIFICATION</a:t>
            </a:r>
          </a:p>
        </p:txBody>
      </p:sp>
      <p:sp>
        <p:nvSpPr>
          <p:cNvPr id="12" name="evidence-panel">
            <a:extLst xmlns:a="http://schemas.openxmlformats.org/drawingml/2006/main">
              <a:ext uri="{FF2B5EF4-FFF2-40B4-BE49-F238E27FC236}">
                <a16:creationId xmlns:a16="http://schemas.microsoft.com/office/drawing/2014/main" id="{A2A16895-D43A-4035-8058-2CB992EB0625}"/>
              </a:ext>
            </a:extLst>
          </p:cNvPr>
          <p:cNvSpPr>
            <a:spLocks xmlns:a="http://schemas.openxmlformats.org/drawingml/2006/main" noGrp="1"/>
          </p:cNvSpPr>
          <p:nvPr/>
        </p:nvSpPr>
        <p:spPr>
          <a:xfrm xmlns:a="http://schemas.openxmlformats.org/drawingml/2006/main">
            <a:off x="495300" y="2190750"/>
            <a:ext cx="5219700" cy="3095625"/>
          </a:xfrm>
          <a:prstGeom xmlns:a="http://schemas.openxmlformats.org/drawingml/2006/main" prst="roundRect">
            <a:avLst>
              <a:gd name="adj" fmla="val 2462"/>
            </a:avLst>
          </a:prstGeom>
          <a:solidFill xmlns:a="http://schemas.openxmlformats.org/drawingml/2006/main">
            <a:srgbClr val="0C1A2C"/>
          </a:solidFill>
          <a:ln xmlns:a="http://schemas.openxmlformats.org/drawingml/2006/main" w="9525">
            <a:solidFill>
              <a:srgbClr val="55DFF2"/>
            </a:solidFill>
            <a:prstDash val="solid"/>
          </a:ln>
        </p:spPr>
      </p:sp>
      <p:sp>
        <p:nvSpPr>
          <p:cNvPr id="13" name="evidence-label">
            <a:extLst xmlns:a="http://schemas.openxmlformats.org/drawingml/2006/main">
              <a:ext uri="{FF2B5EF4-FFF2-40B4-BE49-F238E27FC236}">
                <a16:creationId xmlns:a16="http://schemas.microsoft.com/office/drawing/2014/main" id="{42C230AD-48FC-48A2-9AF2-CCC7880F098E}"/>
              </a:ext>
            </a:extLst>
          </p:cNvPr>
          <p:cNvSpPr>
            <a:spLocks xmlns:a="http://schemas.openxmlformats.org/drawingml/2006/main" noGrp="1"/>
          </p:cNvSpPr>
          <p:nvPr/>
        </p:nvSpPr>
        <p:spPr>
          <a:xfrm xmlns:a="http://schemas.openxmlformats.org/drawingml/2006/main">
            <a:off x="704850" y="23812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01 / VULNERABLE EVIDENCE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63721f6f75d4d58"/>
          <a:stretch xmlns:a="http://schemas.openxmlformats.org/drawingml/2006/main"/>
        </p:blipFill>
        <p:spPr>
          <a:xfrm xmlns:a="http://schemas.openxmlformats.org/drawingml/2006/main">
            <a:off x="704850" y="2924030"/>
            <a:ext cx="4800600" cy="952791"/>
          </a:xfrm>
          <a:prstGeom xmlns:a="http://schemas.openxmlformats.org/drawingml/2006/main" prst="roundRect">
            <a:avLst>
              <a:gd name="adj" fmla="val 5479"/>
            </a:avLst>
          </a:prstGeom>
        </p:spPr>
      </p:pic>
      <p:sp>
        <p:nvSpPr>
          <p:cNvPr id="15" name="evidence-code-panel">
            <a:extLst xmlns:a="http://schemas.openxmlformats.org/drawingml/2006/main">
              <a:ext uri="{FF2B5EF4-FFF2-40B4-BE49-F238E27FC236}">
                <a16:creationId xmlns:a16="http://schemas.microsoft.com/office/drawing/2014/main" id="{7E470022-6B9C-41E8-B190-A382786FFD9E}"/>
              </a:ext>
            </a:extLst>
          </p:cNvPr>
          <p:cNvSpPr>
            <a:spLocks xmlns:a="http://schemas.openxmlformats.org/drawingml/2006/main" noGrp="1"/>
          </p:cNvSpPr>
          <p:nvPr/>
        </p:nvSpPr>
        <p:spPr>
          <a:xfrm xmlns:a="http://schemas.openxmlformats.org/drawingml/2006/main">
            <a:off x="704850" y="4295775"/>
            <a:ext cx="4800600" cy="666750"/>
          </a:xfrm>
          <a:prstGeom xmlns:a="http://schemas.openxmlformats.org/drawingml/2006/main" prst="roundRect">
            <a:avLst>
              <a:gd name="adj" fmla="val 11429"/>
            </a:avLst>
          </a:prstGeom>
          <a:solidFill xmlns:a="http://schemas.openxmlformats.org/drawingml/2006/main">
            <a:srgbClr val="030A13"/>
          </a:solidFill>
          <a:ln xmlns:a="http://schemas.openxmlformats.org/drawingml/2006/main" w="9525">
            <a:solidFill>
              <a:srgbClr val="20364F"/>
            </a:solidFill>
            <a:prstDash val="solid"/>
          </a:ln>
        </p:spPr>
      </p:sp>
      <p:sp>
        <p:nvSpPr>
          <p:cNvPr id="16" name="evidence-code-text">
            <a:extLst xmlns:a="http://schemas.openxmlformats.org/drawingml/2006/main">
              <a:ext uri="{FF2B5EF4-FFF2-40B4-BE49-F238E27FC236}">
                <a16:creationId xmlns:a16="http://schemas.microsoft.com/office/drawing/2014/main" id="{C9379F5C-5E36-46DC-BA97-2EE20E5D4B0A}"/>
              </a:ext>
            </a:extLst>
          </p:cNvPr>
          <p:cNvSpPr>
            <a:spLocks xmlns:a="http://schemas.openxmlformats.org/drawingml/2006/main" noGrp="1"/>
          </p:cNvSpPr>
          <p:nvPr/>
        </p:nvSpPr>
        <p:spPr>
          <a:xfrm xmlns:a="http://schemas.openxmlformats.org/drawingml/2006/main">
            <a:off x="876300" y="4514850"/>
            <a:ext cx="445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FF5E70"/>
                </a:solidFill>
                <a:latin typeface="Courier New"/>
                <a:ea typeface="Courier New"/>
                <a:cs typeface="Courier New"/>
              </a:defRPr>
            </a:pPr>
            <a:r>
              <a:rPr sz="1200" b="0">
                <a:solidFill>
                  <a:srgbClr val="FF5E70"/>
                </a:solidFill>
                <a:latin typeface="Courier New"/>
                <a:ea typeface="Courier New"/>
                <a:cs typeface="Courier New"/>
              </a:rPr>
              <a:t>r = requests.get(url.format(username))</a:t>
            </a:r>
          </a:p>
        </p:txBody>
      </p:sp>
      <p:sp>
        <p:nvSpPr>
          <p:cNvPr id="17" name="fix-panel">
            <a:extLst xmlns:a="http://schemas.openxmlformats.org/drawingml/2006/main">
              <a:ext uri="{FF2B5EF4-FFF2-40B4-BE49-F238E27FC236}">
                <a16:creationId xmlns:a16="http://schemas.microsoft.com/office/drawing/2014/main" id="{881CFE1D-544F-4EC7-A912-32F5DF844F28}"/>
              </a:ext>
            </a:extLst>
          </p:cNvPr>
          <p:cNvSpPr>
            <a:spLocks xmlns:a="http://schemas.openxmlformats.org/drawingml/2006/main" noGrp="1"/>
          </p:cNvSpPr>
          <p:nvPr/>
        </p:nvSpPr>
        <p:spPr>
          <a:xfrm xmlns:a="http://schemas.openxmlformats.org/drawingml/2006/main">
            <a:off x="6477000" y="2190750"/>
            <a:ext cx="5219700" cy="3095625"/>
          </a:xfrm>
          <a:prstGeom xmlns:a="http://schemas.openxmlformats.org/drawingml/2006/main" prst="roundRect">
            <a:avLst>
              <a:gd name="adj" fmla="val 2462"/>
            </a:avLst>
          </a:prstGeom>
          <a:solidFill xmlns:a="http://schemas.openxmlformats.org/drawingml/2006/main">
            <a:srgbClr val="0C1A2C"/>
          </a:solidFill>
          <a:ln xmlns:a="http://schemas.openxmlformats.org/drawingml/2006/main" w="9525">
            <a:solidFill>
              <a:srgbClr val="9678FF"/>
            </a:solidFill>
            <a:prstDash val="solid"/>
          </a:ln>
        </p:spPr>
      </p:sp>
      <p:sp>
        <p:nvSpPr>
          <p:cNvPr id="18" name="fix-label">
            <a:extLst xmlns:a="http://schemas.openxmlformats.org/drawingml/2006/main">
              <a:ext uri="{FF2B5EF4-FFF2-40B4-BE49-F238E27FC236}">
                <a16:creationId xmlns:a16="http://schemas.microsoft.com/office/drawing/2014/main" id="{201D5B66-83CF-4A0A-A418-AFDDE1147EB8}"/>
              </a:ext>
            </a:extLst>
          </p:cNvPr>
          <p:cNvSpPr>
            <a:spLocks xmlns:a="http://schemas.openxmlformats.org/drawingml/2006/main" noGrp="1"/>
          </p:cNvSpPr>
          <p:nvPr/>
        </p:nvSpPr>
        <p:spPr>
          <a:xfrm xmlns:a="http://schemas.openxmlformats.org/drawingml/2006/main">
            <a:off x="6686550" y="2381250"/>
            <a:ext cx="3714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9678FF"/>
                </a:solidFill>
                <a:latin typeface="Courier New"/>
                <a:ea typeface="Courier New"/>
                <a:cs typeface="Courier New"/>
              </a:defRPr>
            </a:pPr>
            <a:r>
              <a:rPr sz="975" b="1">
                <a:solidFill>
                  <a:srgbClr val="9678FF"/>
                </a:solidFill>
                <a:latin typeface="Courier New"/>
                <a:ea typeface="Courier New"/>
                <a:cs typeface="Courier New"/>
              </a:rPr>
              <a:t>02 / REVIEWABLE REMEDIATION</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f485198c1074628"/>
          <a:stretch xmlns:a="http://schemas.openxmlformats.org/drawingml/2006/main"/>
        </p:blipFill>
        <p:spPr>
          <a:xfrm xmlns:a="http://schemas.openxmlformats.org/drawingml/2006/main">
            <a:off x="6686550" y="2763982"/>
            <a:ext cx="4800600" cy="1272886"/>
          </a:xfrm>
          <a:prstGeom xmlns:a="http://schemas.openxmlformats.org/drawingml/2006/main" prst="roundRect">
            <a:avLst>
              <a:gd name="adj" fmla="val 5479"/>
            </a:avLst>
          </a:prstGeom>
        </p:spPr>
      </p:pic>
      <p:sp>
        <p:nvSpPr>
          <p:cNvPr id="20" name="fix-code-panel">
            <a:extLst xmlns:a="http://schemas.openxmlformats.org/drawingml/2006/main">
              <a:ext uri="{FF2B5EF4-FFF2-40B4-BE49-F238E27FC236}">
                <a16:creationId xmlns:a16="http://schemas.microsoft.com/office/drawing/2014/main" id="{66FB1C64-02FA-40FD-8C3F-4CD4C168B575}"/>
              </a:ext>
            </a:extLst>
          </p:cNvPr>
          <p:cNvSpPr>
            <a:spLocks xmlns:a="http://schemas.openxmlformats.org/drawingml/2006/main" noGrp="1"/>
          </p:cNvSpPr>
          <p:nvPr/>
        </p:nvSpPr>
        <p:spPr>
          <a:xfrm xmlns:a="http://schemas.openxmlformats.org/drawingml/2006/main">
            <a:off x="6686550" y="4295775"/>
            <a:ext cx="4800600" cy="666750"/>
          </a:xfrm>
          <a:prstGeom xmlns:a="http://schemas.openxmlformats.org/drawingml/2006/main" prst="roundRect">
            <a:avLst>
              <a:gd name="adj" fmla="val 11429"/>
            </a:avLst>
          </a:prstGeom>
          <a:solidFill xmlns:a="http://schemas.openxmlformats.org/drawingml/2006/main">
            <a:srgbClr val="030A13"/>
          </a:solidFill>
          <a:ln xmlns:a="http://schemas.openxmlformats.org/drawingml/2006/main" w="9525">
            <a:solidFill>
              <a:srgbClr val="20364F"/>
            </a:solidFill>
            <a:prstDash val="solid"/>
          </a:ln>
        </p:spPr>
      </p:sp>
      <p:sp>
        <p:nvSpPr>
          <p:cNvPr id="21" name="fix-code-text">
            <a:extLst xmlns:a="http://schemas.openxmlformats.org/drawingml/2006/main">
              <a:ext uri="{FF2B5EF4-FFF2-40B4-BE49-F238E27FC236}">
                <a16:creationId xmlns:a16="http://schemas.microsoft.com/office/drawing/2014/main" id="{689BD1BE-B7BC-49AC-944F-85CB3E5C9233}"/>
              </a:ext>
            </a:extLst>
          </p:cNvPr>
          <p:cNvSpPr>
            <a:spLocks xmlns:a="http://schemas.openxmlformats.org/drawingml/2006/main" noGrp="1"/>
          </p:cNvSpPr>
          <p:nvPr/>
        </p:nvSpPr>
        <p:spPr>
          <a:xfrm xmlns:a="http://schemas.openxmlformats.org/drawingml/2006/main">
            <a:off x="6858000" y="4514850"/>
            <a:ext cx="445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AE0AA"/>
                </a:solidFill>
                <a:latin typeface="Courier New"/>
                <a:ea typeface="Courier New"/>
                <a:cs typeface="Courier New"/>
              </a:defRPr>
            </a:pPr>
            <a:r>
              <a:rPr sz="1200" b="0">
                <a:solidFill>
                  <a:srgbClr val="5AE0AA"/>
                </a:solidFill>
                <a:latin typeface="Courier New"/>
                <a:ea typeface="Courier New"/>
                <a:cs typeface="Courier New"/>
              </a:rPr>
              <a:t>r = requests.get(url.format(username), timeout=5)</a:t>
            </a:r>
          </a:p>
        </p:txBody>
      </p:sp>
      <p:sp>
        <p:nvSpPr>
          <p:cNvPr id="22" name="evidence-caption">
            <a:extLst xmlns:a="http://schemas.openxmlformats.org/drawingml/2006/main">
              <a:ext uri="{FF2B5EF4-FFF2-40B4-BE49-F238E27FC236}">
                <a16:creationId xmlns:a16="http://schemas.microsoft.com/office/drawing/2014/main" id="{AEDCEFB8-AA7E-4A44-9F90-ED00E5EF7BC6}"/>
              </a:ext>
            </a:extLst>
          </p:cNvPr>
          <p:cNvSpPr>
            <a:spLocks xmlns:a="http://schemas.openxmlformats.org/drawingml/2006/main" noGrp="1"/>
          </p:cNvSpPr>
          <p:nvPr/>
        </p:nvSpPr>
        <p:spPr>
          <a:xfrm xmlns:a="http://schemas.openxmlformats.org/drawingml/2006/main">
            <a:off x="704850" y="54673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879DB3"/>
                </a:solidFill>
                <a:latin typeface="Arial"/>
                <a:ea typeface="Arial"/>
                <a:cs typeface="Arial"/>
              </a:defRPr>
            </a:pPr>
            <a:r>
              <a:rPr sz="1350" b="0">
                <a:solidFill>
                  <a:srgbClr val="879DB3"/>
                </a:solidFill>
                <a:latin typeface="Arial"/>
                <a:ea typeface="Arial"/>
                <a:cs typeface="Arial"/>
              </a:rPr>
              <a:t>The vulnerable expression remains visible beside the finding.</a:t>
            </a:r>
          </a:p>
        </p:txBody>
      </p:sp>
      <p:sp>
        <p:nvSpPr>
          <p:cNvPr id="23" name="fix-caption">
            <a:extLst xmlns:a="http://schemas.openxmlformats.org/drawingml/2006/main">
              <a:ext uri="{FF2B5EF4-FFF2-40B4-BE49-F238E27FC236}">
                <a16:creationId xmlns:a16="http://schemas.microsoft.com/office/drawing/2014/main" id="{8F1F2627-4683-4CD9-A6AF-80BA1A589EDB}"/>
              </a:ext>
            </a:extLst>
          </p:cNvPr>
          <p:cNvSpPr>
            <a:spLocks xmlns:a="http://schemas.openxmlformats.org/drawingml/2006/main" noGrp="1"/>
          </p:cNvSpPr>
          <p:nvPr/>
        </p:nvSpPr>
        <p:spPr>
          <a:xfrm xmlns:a="http://schemas.openxmlformats.org/drawingml/2006/main">
            <a:off x="6705600" y="54673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879DB3"/>
                </a:solidFill>
                <a:latin typeface="Arial"/>
                <a:ea typeface="Arial"/>
                <a:cs typeface="Arial"/>
              </a:defRPr>
            </a:pPr>
            <a:r>
              <a:rPr sz="1350" b="0">
                <a:solidFill>
                  <a:srgbClr val="879DB3"/>
                </a:solidFill>
                <a:latin typeface="Arial"/>
                <a:ea typeface="Arial"/>
                <a:cs typeface="Arial"/>
              </a:rPr>
              <a:t>The safer replacement remains ready for human review.</a:t>
            </a:r>
          </a:p>
        </p:txBody>
      </p:sp>
      <p:sp>
        <p:nvSpPr>
          <p:cNvPr id="24" name="evidence-to-fix-arrow">
            <a:extLst xmlns:a="http://schemas.openxmlformats.org/drawingml/2006/main">
              <a:ext uri="{FF2B5EF4-FFF2-40B4-BE49-F238E27FC236}">
                <a16:creationId xmlns:a16="http://schemas.microsoft.com/office/drawing/2014/main" id="{25522969-DB7B-4BA2-AEEA-34A145E1F2CA}"/>
              </a:ext>
            </a:extLst>
          </p:cNvPr>
          <p:cNvSpPr>
            <a:spLocks xmlns:a="http://schemas.openxmlformats.org/drawingml/2006/main" noGrp="1"/>
          </p:cNvSpPr>
          <p:nvPr/>
        </p:nvSpPr>
        <p:spPr>
          <a:xfrm xmlns:a="http://schemas.openxmlformats.org/drawingml/2006/main">
            <a:off x="5810250" y="3486150"/>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00" b="1">
                <a:solidFill>
                  <a:srgbClr val="6D91FF"/>
                </a:solidFill>
                <a:latin typeface="Arial"/>
                <a:ea typeface="Arial"/>
                <a:cs typeface="Arial"/>
              </a:defRPr>
            </a:pPr>
            <a:r>
              <a:rPr sz="2700" b="1">
                <a:solidFill>
                  <a:srgbClr val="6D91FF"/>
                </a:solidFill>
                <a:latin typeface="Arial"/>
                <a:ea typeface="Arial"/>
                <a:cs typeface="Arial"/>
              </a:rPr>
              <a:t>→</a:t>
            </a:r>
          </a:p>
        </p:txBody>
      </p:sp>
    </p:spTree>
    <p:extLst>
      <p:ext uri="{BB962C8B-B14F-4D97-AF65-F5344CB8AC3E}">
        <p14:creationId xmlns:p14="http://schemas.microsoft.com/office/powerpoint/2010/main" val="996063944"/>
      </p:ext>
    </p:extLst>
  </p:cSld>
</p:sld>
</file>

<file path=ppt/slides/slide7.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F14EBE93-7EC6-4D9A-B19F-5B67B295AA3E}"/>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62A9BF62-2587-4EFD-8BF6-831939F1C4AF}"/>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2832D434-EE13-43CD-BBDD-2627CB51A079}"/>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7">
            <a:extLst xmlns:a="http://schemas.openxmlformats.org/drawingml/2006/main">
              <a:ext uri="{FF2B5EF4-FFF2-40B4-BE49-F238E27FC236}">
                <a16:creationId xmlns:a16="http://schemas.microsoft.com/office/drawing/2014/main" id="{52E540E4-1B0E-42D4-BDFF-1119E6E48A54}"/>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LIVE DEMO / REPORT</a:t>
            </a:r>
          </a:p>
        </p:txBody>
      </p:sp>
      <p:sp>
        <p:nvSpPr>
          <p:cNvPr id="5" name="chrome-event-7">
            <a:extLst xmlns:a="http://schemas.openxmlformats.org/drawingml/2006/main">
              <a:ext uri="{FF2B5EF4-FFF2-40B4-BE49-F238E27FC236}">
                <a16:creationId xmlns:a16="http://schemas.microsoft.com/office/drawing/2014/main" id="{A34BA341-F977-4B7D-9432-E8FDB67F5DCC}"/>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7">
            <a:extLst xmlns:a="http://schemas.openxmlformats.org/drawingml/2006/main">
              <a:ext uri="{FF2B5EF4-FFF2-40B4-BE49-F238E27FC236}">
                <a16:creationId xmlns:a16="http://schemas.microsoft.com/office/drawing/2014/main" id="{9D4B0DCE-84F7-4539-B8D8-DAF09D615C90}"/>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7">
            <a:extLst xmlns:a="http://schemas.openxmlformats.org/drawingml/2006/main">
              <a:ext uri="{FF2B5EF4-FFF2-40B4-BE49-F238E27FC236}">
                <a16:creationId xmlns:a16="http://schemas.microsoft.com/office/drawing/2014/main" id="{A44A50C8-25EA-45C8-BAA9-415E6A7FC47C}"/>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7">
            <a:extLst xmlns:a="http://schemas.openxmlformats.org/drawingml/2006/main">
              <a:ext uri="{FF2B5EF4-FFF2-40B4-BE49-F238E27FC236}">
                <a16:creationId xmlns:a16="http://schemas.microsoft.com/office/drawing/2014/main" id="{0D1047BA-E4BD-415A-8B47-3BD91916370B}"/>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07</a:t>
            </a:r>
          </a:p>
        </p:txBody>
      </p:sp>
      <p:sp>
        <p:nvSpPr>
          <p:cNvPr id="9" name="slide-eyebrow">
            <a:extLst xmlns:a="http://schemas.openxmlformats.org/drawingml/2006/main">
              <a:ext uri="{FF2B5EF4-FFF2-40B4-BE49-F238E27FC236}">
                <a16:creationId xmlns:a16="http://schemas.microsoft.com/office/drawing/2014/main" id="{DF5266F0-477F-468E-AB74-359DFC965647}"/>
              </a:ext>
            </a:extLst>
          </p:cNvPr>
          <p:cNvSpPr>
            <a:spLocks xmlns:a="http://schemas.openxmlformats.org/drawingml/2006/main" noGrp="1"/>
          </p:cNvSpPr>
          <p:nvPr/>
        </p:nvSpPr>
        <p:spPr>
          <a:xfrm xmlns:a="http://schemas.openxmlformats.org/drawingml/2006/main">
            <a:off x="495300" y="6762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REUSABLE OUTPUT</a:t>
            </a:r>
          </a:p>
        </p:txBody>
      </p:sp>
      <p:sp>
        <p:nvSpPr>
          <p:cNvPr id="10" name="slide-title">
            <a:extLst xmlns:a="http://schemas.openxmlformats.org/drawingml/2006/main">
              <a:ext uri="{FF2B5EF4-FFF2-40B4-BE49-F238E27FC236}">
                <a16:creationId xmlns:a16="http://schemas.microsoft.com/office/drawing/2014/main" id="{075B1733-4325-4A18-AF73-3B309FBB5A6C}"/>
              </a:ext>
            </a:extLst>
          </p:cNvPr>
          <p:cNvSpPr>
            <a:spLocks xmlns:a="http://schemas.openxmlformats.org/drawingml/2006/main" noGrp="1"/>
          </p:cNvSpPr>
          <p:nvPr/>
        </p:nvSpPr>
        <p:spPr>
          <a:xfrm xmlns:a="http://schemas.openxmlformats.org/drawingml/2006/main">
            <a:off x="495300" y="971550"/>
            <a:ext cx="1123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EDF6FF"/>
                </a:solidFill>
                <a:latin typeface="Arial"/>
                <a:ea typeface="Arial"/>
                <a:cs typeface="Arial"/>
              </a:defRPr>
            </a:pPr>
            <a:r>
              <a:rPr sz="3075" b="1">
                <a:solidFill>
                  <a:srgbClr val="EDF6FF"/>
                </a:solidFill>
                <a:latin typeface="Arial"/>
                <a:ea typeface="Arial"/>
                <a:cs typeface="Arial"/>
              </a:rPr>
              <a:t>One scan becomes a reusable security report.</a:t>
            </a:r>
          </a:p>
        </p:txBody>
      </p:sp>
      <p:sp>
        <p:nvSpPr>
          <p:cNvPr id="11" name="report-interface-panel">
            <a:extLst xmlns:a="http://schemas.openxmlformats.org/drawingml/2006/main">
              <a:ext uri="{FF2B5EF4-FFF2-40B4-BE49-F238E27FC236}">
                <a16:creationId xmlns:a16="http://schemas.microsoft.com/office/drawing/2014/main" id="{510CF35B-5CF3-4133-B1DC-320E47657208}"/>
              </a:ext>
            </a:extLst>
          </p:cNvPr>
          <p:cNvSpPr>
            <a:spLocks xmlns:a="http://schemas.openxmlformats.org/drawingml/2006/main" noGrp="1"/>
          </p:cNvSpPr>
          <p:nvPr/>
        </p:nvSpPr>
        <p:spPr>
          <a:xfrm xmlns:a="http://schemas.openxmlformats.org/drawingml/2006/main">
            <a:off x="495300" y="1885950"/>
            <a:ext cx="7239000" cy="3800475"/>
          </a:xfrm>
          <a:prstGeom xmlns:a="http://schemas.openxmlformats.org/drawingml/2006/main" prst="roundRect">
            <a:avLst>
              <a:gd name="adj" fmla="val 2005"/>
            </a:avLst>
          </a:prstGeom>
          <a:solidFill xmlns:a="http://schemas.openxmlformats.org/drawingml/2006/main">
            <a:srgbClr val="0C1A2C"/>
          </a:solidFill>
          <a:ln xmlns:a="http://schemas.openxmlformats.org/drawingml/2006/main" w="9525">
            <a:solidFill>
              <a:srgbClr val="20364F"/>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2e28c45944c4aff"/>
          <a:stretch xmlns:a="http://schemas.openxmlformats.org/drawingml/2006/main"/>
        </p:blipFill>
        <p:spPr>
          <a:xfrm xmlns:a="http://schemas.openxmlformats.org/drawingml/2006/main">
            <a:off x="647700" y="2203656"/>
            <a:ext cx="6934200" cy="3165063"/>
          </a:xfrm>
          <a:prstGeom xmlns:a="http://schemas.openxmlformats.org/drawingml/2006/main" prst="roundRect">
            <a:avLst>
              <a:gd name="adj" fmla="val 2180"/>
            </a:avLst>
          </a:prstGeom>
        </p:spPr>
      </p:pic>
      <p:sp>
        <p:nvSpPr>
          <p:cNvPr id="13" name="report-outcomes-label">
            <a:extLst xmlns:a="http://schemas.openxmlformats.org/drawingml/2006/main">
              <a:ext uri="{FF2B5EF4-FFF2-40B4-BE49-F238E27FC236}">
                <a16:creationId xmlns:a16="http://schemas.microsoft.com/office/drawing/2014/main" id="{0F55ACDC-9BDE-49A0-8587-11ADE2FD93BC}"/>
              </a:ext>
            </a:extLst>
          </p:cNvPr>
          <p:cNvSpPr>
            <a:spLocks xmlns:a="http://schemas.openxmlformats.org/drawingml/2006/main" noGrp="1"/>
          </p:cNvSpPr>
          <p:nvPr/>
        </p:nvSpPr>
        <p:spPr>
          <a:xfrm xmlns:a="http://schemas.openxmlformats.org/drawingml/2006/main">
            <a:off x="8239125" y="20383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5DFF2"/>
                </a:solidFill>
                <a:latin typeface="Courier New"/>
                <a:ea typeface="Courier New"/>
                <a:cs typeface="Courier New"/>
              </a:defRPr>
            </a:pPr>
            <a:r>
              <a:rPr sz="975" b="1">
                <a:solidFill>
                  <a:srgbClr val="55DFF2"/>
                </a:solidFill>
                <a:latin typeface="Courier New"/>
                <a:ea typeface="Courier New"/>
                <a:cs typeface="Courier New"/>
              </a:rPr>
              <a:t>WHAT THE USER KEEPS</a:t>
            </a:r>
          </a:p>
        </p:txBody>
      </p:sp>
      <p:sp>
        <p:nvSpPr>
          <p:cNvPr id="14" name="report-outcome-number-1">
            <a:extLst xmlns:a="http://schemas.openxmlformats.org/drawingml/2006/main">
              <a:ext uri="{FF2B5EF4-FFF2-40B4-BE49-F238E27FC236}">
                <a16:creationId xmlns:a16="http://schemas.microsoft.com/office/drawing/2014/main" id="{C6CF50F5-1C1B-4AF3-944C-E200E05E3246}"/>
              </a:ext>
            </a:extLst>
          </p:cNvPr>
          <p:cNvSpPr>
            <a:spLocks xmlns:a="http://schemas.openxmlformats.org/drawingml/2006/main" noGrp="1"/>
          </p:cNvSpPr>
          <p:nvPr/>
        </p:nvSpPr>
        <p:spPr>
          <a:xfrm xmlns:a="http://schemas.openxmlformats.org/drawingml/2006/main">
            <a:off x="8239125" y="25717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D91FF"/>
                </a:solidFill>
                <a:latin typeface="Courier New"/>
                <a:ea typeface="Courier New"/>
                <a:cs typeface="Courier New"/>
              </a:defRPr>
            </a:pPr>
            <a:r>
              <a:rPr sz="1200" b="1">
                <a:solidFill>
                  <a:srgbClr val="6D91FF"/>
                </a:solidFill>
                <a:latin typeface="Courier New"/>
                <a:ea typeface="Courier New"/>
                <a:cs typeface="Courier New"/>
              </a:rPr>
              <a:t>01</a:t>
            </a:r>
          </a:p>
        </p:txBody>
      </p:sp>
      <p:sp>
        <p:nvSpPr>
          <p:cNvPr id="15" name="report-outcome-text-1">
            <a:extLst xmlns:a="http://schemas.openxmlformats.org/drawingml/2006/main">
              <a:ext uri="{FF2B5EF4-FFF2-40B4-BE49-F238E27FC236}">
                <a16:creationId xmlns:a16="http://schemas.microsoft.com/office/drawing/2014/main" id="{B406837D-C593-4D84-9BCD-4E797CBE87D4}"/>
              </a:ext>
            </a:extLst>
          </p:cNvPr>
          <p:cNvSpPr>
            <a:spLocks xmlns:a="http://schemas.openxmlformats.org/drawingml/2006/main" noGrp="1"/>
          </p:cNvSpPr>
          <p:nvPr/>
        </p:nvSpPr>
        <p:spPr>
          <a:xfrm xmlns:a="http://schemas.openxmlformats.org/drawingml/2006/main">
            <a:off x="8715375" y="25527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Repository risk summary</a:t>
            </a:r>
          </a:p>
        </p:txBody>
      </p:sp>
      <p:sp>
        <p:nvSpPr>
          <p:cNvPr id="16" name="report-outcome-rule-1">
            <a:extLst xmlns:a="http://schemas.openxmlformats.org/drawingml/2006/main">
              <a:ext uri="{FF2B5EF4-FFF2-40B4-BE49-F238E27FC236}">
                <a16:creationId xmlns:a16="http://schemas.microsoft.com/office/drawing/2014/main" id="{D6908404-178B-4664-BBD3-C5CB98153110}"/>
              </a:ext>
            </a:extLst>
          </p:cNvPr>
          <p:cNvSpPr>
            <a:spLocks xmlns:a="http://schemas.openxmlformats.org/drawingml/2006/main" noGrp="1"/>
          </p:cNvSpPr>
          <p:nvPr/>
        </p:nvSpPr>
        <p:spPr>
          <a:xfrm xmlns:a="http://schemas.openxmlformats.org/drawingml/2006/main">
            <a:off x="8715375" y="3057525"/>
            <a:ext cx="28194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17" name="report-outcome-number-2">
            <a:extLst xmlns:a="http://schemas.openxmlformats.org/drawingml/2006/main">
              <a:ext uri="{FF2B5EF4-FFF2-40B4-BE49-F238E27FC236}">
                <a16:creationId xmlns:a16="http://schemas.microsoft.com/office/drawing/2014/main" id="{D4FCAD4C-3842-436D-98BE-CB6AF36605FF}"/>
              </a:ext>
            </a:extLst>
          </p:cNvPr>
          <p:cNvSpPr>
            <a:spLocks xmlns:a="http://schemas.openxmlformats.org/drawingml/2006/main" noGrp="1"/>
          </p:cNvSpPr>
          <p:nvPr/>
        </p:nvSpPr>
        <p:spPr>
          <a:xfrm xmlns:a="http://schemas.openxmlformats.org/drawingml/2006/main">
            <a:off x="8239125" y="3257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D91FF"/>
                </a:solidFill>
                <a:latin typeface="Courier New"/>
                <a:ea typeface="Courier New"/>
                <a:cs typeface="Courier New"/>
              </a:defRPr>
            </a:pPr>
            <a:r>
              <a:rPr sz="1200" b="1">
                <a:solidFill>
                  <a:srgbClr val="6D91FF"/>
                </a:solidFill>
                <a:latin typeface="Courier New"/>
                <a:ea typeface="Courier New"/>
                <a:cs typeface="Courier New"/>
              </a:rPr>
              <a:t>02</a:t>
            </a:r>
          </a:p>
        </p:txBody>
      </p:sp>
      <p:sp>
        <p:nvSpPr>
          <p:cNvPr id="18" name="report-outcome-text-2">
            <a:extLst xmlns:a="http://schemas.openxmlformats.org/drawingml/2006/main">
              <a:ext uri="{FF2B5EF4-FFF2-40B4-BE49-F238E27FC236}">
                <a16:creationId xmlns:a16="http://schemas.microsoft.com/office/drawing/2014/main" id="{8D18A8E8-8685-4CB9-AC31-E2D5FB3060C2}"/>
              </a:ext>
            </a:extLst>
          </p:cNvPr>
          <p:cNvSpPr>
            <a:spLocks xmlns:a="http://schemas.openxmlformats.org/drawingml/2006/main" noGrp="1"/>
          </p:cNvSpPr>
          <p:nvPr/>
        </p:nvSpPr>
        <p:spPr>
          <a:xfrm xmlns:a="http://schemas.openxmlformats.org/drawingml/2006/main">
            <a:off x="8715375" y="3238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AI-supported findings with evidence</a:t>
            </a:r>
          </a:p>
        </p:txBody>
      </p:sp>
      <p:sp>
        <p:nvSpPr>
          <p:cNvPr id="19" name="report-outcome-rule-2">
            <a:extLst xmlns:a="http://schemas.openxmlformats.org/drawingml/2006/main">
              <a:ext uri="{FF2B5EF4-FFF2-40B4-BE49-F238E27FC236}">
                <a16:creationId xmlns:a16="http://schemas.microsoft.com/office/drawing/2014/main" id="{1C996AE1-B470-4C27-B40E-FDAEAFB3DC22}"/>
              </a:ext>
            </a:extLst>
          </p:cNvPr>
          <p:cNvSpPr>
            <a:spLocks xmlns:a="http://schemas.openxmlformats.org/drawingml/2006/main" noGrp="1"/>
          </p:cNvSpPr>
          <p:nvPr/>
        </p:nvSpPr>
        <p:spPr>
          <a:xfrm xmlns:a="http://schemas.openxmlformats.org/drawingml/2006/main">
            <a:off x="8715375" y="3743325"/>
            <a:ext cx="28194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20" name="report-outcome-number-3">
            <a:extLst xmlns:a="http://schemas.openxmlformats.org/drawingml/2006/main">
              <a:ext uri="{FF2B5EF4-FFF2-40B4-BE49-F238E27FC236}">
                <a16:creationId xmlns:a16="http://schemas.microsoft.com/office/drawing/2014/main" id="{BF0CEDE2-D718-40BC-85DE-3BB5F4D0AE3C}"/>
              </a:ext>
            </a:extLst>
          </p:cNvPr>
          <p:cNvSpPr>
            <a:spLocks xmlns:a="http://schemas.openxmlformats.org/drawingml/2006/main" noGrp="1"/>
          </p:cNvSpPr>
          <p:nvPr/>
        </p:nvSpPr>
        <p:spPr>
          <a:xfrm xmlns:a="http://schemas.openxmlformats.org/drawingml/2006/main">
            <a:off x="8239125" y="39433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D91FF"/>
                </a:solidFill>
                <a:latin typeface="Courier New"/>
                <a:ea typeface="Courier New"/>
                <a:cs typeface="Courier New"/>
              </a:defRPr>
            </a:pPr>
            <a:r>
              <a:rPr sz="1200" b="1">
                <a:solidFill>
                  <a:srgbClr val="6D91FF"/>
                </a:solidFill>
                <a:latin typeface="Courier New"/>
                <a:ea typeface="Courier New"/>
                <a:cs typeface="Courier New"/>
              </a:rPr>
              <a:t>03</a:t>
            </a:r>
          </a:p>
        </p:txBody>
      </p:sp>
      <p:sp>
        <p:nvSpPr>
          <p:cNvPr id="21" name="report-outcome-text-3">
            <a:extLst xmlns:a="http://schemas.openxmlformats.org/drawingml/2006/main">
              <a:ext uri="{FF2B5EF4-FFF2-40B4-BE49-F238E27FC236}">
                <a16:creationId xmlns:a16="http://schemas.microsoft.com/office/drawing/2014/main" id="{606CB765-12F4-44FD-ACAB-A5B351886B0A}"/>
              </a:ext>
            </a:extLst>
          </p:cNvPr>
          <p:cNvSpPr>
            <a:spLocks xmlns:a="http://schemas.openxmlformats.org/drawingml/2006/main" noGrp="1"/>
          </p:cNvSpPr>
          <p:nvPr/>
        </p:nvSpPr>
        <p:spPr>
          <a:xfrm xmlns:a="http://schemas.openxmlformats.org/drawingml/2006/main">
            <a:off x="8715375" y="39243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Local scan history</a:t>
            </a:r>
          </a:p>
        </p:txBody>
      </p:sp>
      <p:sp>
        <p:nvSpPr>
          <p:cNvPr id="22" name="report-outcome-rule-3">
            <a:extLst xmlns:a="http://schemas.openxmlformats.org/drawingml/2006/main">
              <a:ext uri="{FF2B5EF4-FFF2-40B4-BE49-F238E27FC236}">
                <a16:creationId xmlns:a16="http://schemas.microsoft.com/office/drawing/2014/main" id="{CA678FAB-DD49-4403-B805-227394B236C9}"/>
              </a:ext>
            </a:extLst>
          </p:cNvPr>
          <p:cNvSpPr>
            <a:spLocks xmlns:a="http://schemas.openxmlformats.org/drawingml/2006/main" noGrp="1"/>
          </p:cNvSpPr>
          <p:nvPr/>
        </p:nvSpPr>
        <p:spPr>
          <a:xfrm xmlns:a="http://schemas.openxmlformats.org/drawingml/2006/main">
            <a:off x="8715375" y="4429125"/>
            <a:ext cx="28194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23" name="report-outcome-number-4">
            <a:extLst xmlns:a="http://schemas.openxmlformats.org/drawingml/2006/main">
              <a:ext uri="{FF2B5EF4-FFF2-40B4-BE49-F238E27FC236}">
                <a16:creationId xmlns:a16="http://schemas.microsoft.com/office/drawing/2014/main" id="{D22C3C77-2A08-4E9E-91BF-D346F7AF733A}"/>
              </a:ext>
            </a:extLst>
          </p:cNvPr>
          <p:cNvSpPr>
            <a:spLocks xmlns:a="http://schemas.openxmlformats.org/drawingml/2006/main" noGrp="1"/>
          </p:cNvSpPr>
          <p:nvPr/>
        </p:nvSpPr>
        <p:spPr>
          <a:xfrm xmlns:a="http://schemas.openxmlformats.org/drawingml/2006/main">
            <a:off x="8239125" y="46291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AE0AA"/>
                </a:solidFill>
                <a:latin typeface="Courier New"/>
                <a:ea typeface="Courier New"/>
                <a:cs typeface="Courier New"/>
              </a:defRPr>
            </a:pPr>
            <a:r>
              <a:rPr sz="1200" b="1">
                <a:solidFill>
                  <a:srgbClr val="5AE0AA"/>
                </a:solidFill>
                <a:latin typeface="Courier New"/>
                <a:ea typeface="Courier New"/>
                <a:cs typeface="Courier New"/>
              </a:rPr>
              <a:t>04</a:t>
            </a:r>
          </a:p>
        </p:txBody>
      </p:sp>
      <p:sp>
        <p:nvSpPr>
          <p:cNvPr id="24" name="report-outcome-text-4">
            <a:extLst xmlns:a="http://schemas.openxmlformats.org/drawingml/2006/main">
              <a:ext uri="{FF2B5EF4-FFF2-40B4-BE49-F238E27FC236}">
                <a16:creationId xmlns:a16="http://schemas.microsoft.com/office/drawing/2014/main" id="{A3780787-7919-4D32-9CE4-3B432C0308B8}"/>
              </a:ext>
            </a:extLst>
          </p:cNvPr>
          <p:cNvSpPr>
            <a:spLocks xmlns:a="http://schemas.openxmlformats.org/drawingml/2006/main" noGrp="1"/>
          </p:cNvSpPr>
          <p:nvPr/>
        </p:nvSpPr>
        <p:spPr>
          <a:xfrm xmlns:a="http://schemas.openxmlformats.org/drawingml/2006/main">
            <a:off x="8715375" y="46101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DF6FF"/>
                </a:solidFill>
                <a:latin typeface="Arial"/>
                <a:ea typeface="Arial"/>
                <a:cs typeface="Arial"/>
              </a:defRPr>
            </a:pPr>
            <a:r>
              <a:rPr sz="1425" b="1">
                <a:solidFill>
                  <a:srgbClr val="EDF6FF"/>
                </a:solidFill>
                <a:latin typeface="Arial"/>
                <a:ea typeface="Arial"/>
                <a:cs typeface="Arial"/>
              </a:rPr>
              <a:t>Downloadable JSON output</a:t>
            </a:r>
          </a:p>
        </p:txBody>
      </p:sp>
      <p:sp>
        <p:nvSpPr>
          <p:cNvPr id="25" name="report-caveat-panel">
            <a:extLst xmlns:a="http://schemas.openxmlformats.org/drawingml/2006/main">
              <a:ext uri="{FF2B5EF4-FFF2-40B4-BE49-F238E27FC236}">
                <a16:creationId xmlns:a16="http://schemas.microsoft.com/office/drawing/2014/main" id="{2E4E6E2F-EE5F-4378-92F0-2A58CC768071}"/>
              </a:ext>
            </a:extLst>
          </p:cNvPr>
          <p:cNvSpPr>
            <a:spLocks xmlns:a="http://schemas.openxmlformats.org/drawingml/2006/main" noGrp="1"/>
          </p:cNvSpPr>
          <p:nvPr/>
        </p:nvSpPr>
        <p:spPr>
          <a:xfrm xmlns:a="http://schemas.openxmlformats.org/drawingml/2006/main">
            <a:off x="8077200" y="5381625"/>
            <a:ext cx="3619500" cy="609600"/>
          </a:xfrm>
          <a:prstGeom xmlns:a="http://schemas.openxmlformats.org/drawingml/2006/main" prst="roundRect">
            <a:avLst>
              <a:gd name="adj" fmla="val 12500"/>
            </a:avLst>
          </a:prstGeom>
          <a:solidFill xmlns:a="http://schemas.openxmlformats.org/drawingml/2006/main">
            <a:srgbClr val="0A2034"/>
          </a:solidFill>
          <a:ln xmlns:a="http://schemas.openxmlformats.org/drawingml/2006/main" w="9525">
            <a:solidFill>
              <a:srgbClr val="20364F"/>
            </a:solidFill>
            <a:prstDash val="solid"/>
          </a:ln>
        </p:spPr>
      </p:sp>
      <p:sp>
        <p:nvSpPr>
          <p:cNvPr id="26" name="report-caveat">
            <a:extLst xmlns:a="http://schemas.openxmlformats.org/drawingml/2006/main">
              <a:ext uri="{FF2B5EF4-FFF2-40B4-BE49-F238E27FC236}">
                <a16:creationId xmlns:a16="http://schemas.microsoft.com/office/drawing/2014/main" id="{C1C63136-5E67-43C7-8847-2B15D9F40582}"/>
              </a:ext>
            </a:extLst>
          </p:cNvPr>
          <p:cNvSpPr>
            <a:spLocks xmlns:a="http://schemas.openxmlformats.org/drawingml/2006/main" noGrp="1"/>
          </p:cNvSpPr>
          <p:nvPr/>
        </p:nvSpPr>
        <p:spPr>
          <a:xfrm xmlns:a="http://schemas.openxmlformats.org/drawingml/2006/main">
            <a:off x="8305800" y="5591175"/>
            <a:ext cx="3181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7C95C"/>
                </a:solidFill>
                <a:latin typeface="Courier New"/>
                <a:ea typeface="Courier New"/>
                <a:cs typeface="Courier New"/>
              </a:defRPr>
            </a:pPr>
            <a:r>
              <a:rPr sz="900" b="1">
                <a:solidFill>
                  <a:srgbClr val="F7C95C"/>
                </a:solidFill>
                <a:latin typeface="Courier New"/>
                <a:ea typeface="Courier New"/>
                <a:cs typeface="Courier New"/>
              </a:rPr>
              <a:t>PYDANTIC VALIDATES STRUCTURE—NOT FACTUAL TRUTH.</a:t>
            </a:r>
          </a:p>
        </p:txBody>
      </p:sp>
    </p:spTree>
    <p:extLst>
      <p:ext uri="{BB962C8B-B14F-4D97-AF65-F5344CB8AC3E}">
        <p14:creationId xmlns:p14="http://schemas.microsoft.com/office/powerpoint/2010/main" val="2019243065"/>
      </p:ext>
    </p:extLst>
  </p:cSld>
</p:sld>
</file>

<file path=ppt/slides/slide8.xml><?xml version="1.0" encoding="utf-8"?>
<p:sld xmlns:p="http://schemas.openxmlformats.org/presentationml/2006/main">
  <p:cSld>
    <p:bg>
      <p:bgPr>
        <a:solidFill xmlns:a="http://schemas.openxmlformats.org/drawingml/2006/main">
          <a:srgbClr val="06101D"/>
        </a:solidFill>
      </p:bgPr>
    </p:bg>
    <p:spTree>
      <p:nvGrpSpPr>
        <p:cNvPr id="1" name=""/>
        <p:cNvGrpSpPr/>
        <p:nvPr/>
      </p:nvGrpSpPr>
      <p:grpSpPr>
        <a:xfrm xmlns:a="http://schemas.openxmlformats.org/drawingml/2006/main"/>
      </p:grpSpPr>
      <p:sp>
        <p:nvSpPr>
          <p:cNvPr id="1" name="accent-bar-1-40-27">
            <a:extLst xmlns:a="http://schemas.openxmlformats.org/drawingml/2006/main">
              <a:ext uri="{FF2B5EF4-FFF2-40B4-BE49-F238E27FC236}">
                <a16:creationId xmlns:a16="http://schemas.microsoft.com/office/drawing/2014/main" id="{DD6838BE-92B9-4EFE-8385-D87B596560DF}"/>
              </a:ext>
            </a:extLst>
          </p:cNvPr>
          <p:cNvSpPr>
            <a:spLocks xmlns:a="http://schemas.openxmlformats.org/drawingml/2006/main" noGrp="1"/>
          </p:cNvSpPr>
          <p:nvPr/>
        </p:nvSpPr>
        <p:spPr>
          <a:xfrm xmlns:a="http://schemas.openxmlformats.org/drawingml/2006/main">
            <a:off x="381000" y="257175"/>
            <a:ext cx="720090" cy="38100"/>
          </a:xfrm>
          <a:prstGeom xmlns:a="http://schemas.openxmlformats.org/drawingml/2006/main" prst="rect">
            <a:avLst/>
          </a:prstGeom>
          <a:solidFill xmlns:a="http://schemas.openxmlformats.org/drawingml/2006/main">
            <a:srgbClr val="55DFF2"/>
          </a:solidFill>
          <a:ln xmlns:a="http://schemas.openxmlformats.org/drawingml/2006/main" w="0">
            <a:solidFill>
              <a:srgbClr val="55DFF2"/>
            </a:solidFill>
            <a:prstDash val="solid"/>
          </a:ln>
        </p:spPr>
      </p:sp>
      <p:sp>
        <p:nvSpPr>
          <p:cNvPr id="2" name="accent-bar-2-40-27">
            <a:extLst xmlns:a="http://schemas.openxmlformats.org/drawingml/2006/main">
              <a:ext uri="{FF2B5EF4-FFF2-40B4-BE49-F238E27FC236}">
                <a16:creationId xmlns:a16="http://schemas.microsoft.com/office/drawing/2014/main" id="{3C68EA1C-FD64-468D-8104-F6C71863A979}"/>
              </a:ext>
            </a:extLst>
          </p:cNvPr>
          <p:cNvSpPr>
            <a:spLocks xmlns:a="http://schemas.openxmlformats.org/drawingml/2006/main" noGrp="1"/>
          </p:cNvSpPr>
          <p:nvPr/>
        </p:nvSpPr>
        <p:spPr>
          <a:xfrm xmlns:a="http://schemas.openxmlformats.org/drawingml/2006/main">
            <a:off x="1101090" y="257175"/>
            <a:ext cx="640080" cy="38100"/>
          </a:xfrm>
          <a:prstGeom xmlns:a="http://schemas.openxmlformats.org/drawingml/2006/main" prst="rect">
            <a:avLst/>
          </a:prstGeom>
          <a:solidFill xmlns:a="http://schemas.openxmlformats.org/drawingml/2006/main">
            <a:srgbClr val="6D91FF"/>
          </a:solidFill>
          <a:ln xmlns:a="http://schemas.openxmlformats.org/drawingml/2006/main" w="0">
            <a:solidFill>
              <a:srgbClr val="6D91FF"/>
            </a:solidFill>
            <a:prstDash val="solid"/>
          </a:ln>
        </p:spPr>
      </p:sp>
      <p:sp>
        <p:nvSpPr>
          <p:cNvPr id="3" name="accent-bar-3-40-27">
            <a:extLst xmlns:a="http://schemas.openxmlformats.org/drawingml/2006/main">
              <a:ext uri="{FF2B5EF4-FFF2-40B4-BE49-F238E27FC236}">
                <a16:creationId xmlns:a16="http://schemas.microsoft.com/office/drawing/2014/main" id="{E86FDB55-5215-492B-913A-56FDC7B85FEA}"/>
              </a:ext>
            </a:extLst>
          </p:cNvPr>
          <p:cNvSpPr>
            <a:spLocks xmlns:a="http://schemas.openxmlformats.org/drawingml/2006/main" noGrp="1"/>
          </p:cNvSpPr>
          <p:nvPr/>
        </p:nvSpPr>
        <p:spPr>
          <a:xfrm xmlns:a="http://schemas.openxmlformats.org/drawingml/2006/main">
            <a:off x="1741170" y="257175"/>
            <a:ext cx="640080" cy="38100"/>
          </a:xfrm>
          <a:prstGeom xmlns:a="http://schemas.openxmlformats.org/drawingml/2006/main" prst="rect">
            <a:avLst/>
          </a:prstGeom>
          <a:solidFill xmlns:a="http://schemas.openxmlformats.org/drawingml/2006/main">
            <a:srgbClr val="9678FF"/>
          </a:solidFill>
          <a:ln xmlns:a="http://schemas.openxmlformats.org/drawingml/2006/main" w="0">
            <a:solidFill>
              <a:srgbClr val="9678FF"/>
            </a:solidFill>
            <a:prstDash val="solid"/>
          </a:ln>
        </p:spPr>
      </p:sp>
      <p:sp>
        <p:nvSpPr>
          <p:cNvPr id="4" name="chrome-section-8">
            <a:extLst xmlns:a="http://schemas.openxmlformats.org/drawingml/2006/main">
              <a:ext uri="{FF2B5EF4-FFF2-40B4-BE49-F238E27FC236}">
                <a16:creationId xmlns:a16="http://schemas.microsoft.com/office/drawing/2014/main" id="{833D958E-6536-4354-B831-1AC528C5EAB0}"/>
              </a:ext>
            </a:extLst>
          </p:cNvPr>
          <p:cNvSpPr>
            <a:spLocks xmlns:a="http://schemas.openxmlformats.org/drawingml/2006/main" noGrp="1"/>
          </p:cNvSpPr>
          <p:nvPr/>
        </p:nvSpPr>
        <p:spPr>
          <a:xfrm xmlns:a="http://schemas.openxmlformats.org/drawingml/2006/main">
            <a:off x="381000" y="4000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79DB3"/>
                </a:solidFill>
                <a:latin typeface="Courier New"/>
                <a:ea typeface="Courier New"/>
                <a:cs typeface="Courier New"/>
              </a:defRPr>
            </a:pPr>
            <a:r>
              <a:rPr sz="900" b="1">
                <a:solidFill>
                  <a:srgbClr val="879DB3"/>
                </a:solidFill>
                <a:latin typeface="Courier New"/>
                <a:ea typeface="Courier New"/>
                <a:cs typeface="Courier New"/>
              </a:rPr>
              <a:t>SECUREREPO AI  /  CLOSING</a:t>
            </a:r>
          </a:p>
        </p:txBody>
      </p:sp>
      <p:sp>
        <p:nvSpPr>
          <p:cNvPr id="5" name="chrome-event-8">
            <a:extLst xmlns:a="http://schemas.openxmlformats.org/drawingml/2006/main">
              <a:ext uri="{FF2B5EF4-FFF2-40B4-BE49-F238E27FC236}">
                <a16:creationId xmlns:a16="http://schemas.microsoft.com/office/drawing/2014/main" id="{AC01EB8F-35CF-484A-9F29-C7E24DA065A3}"/>
              </a:ext>
            </a:extLst>
          </p:cNvPr>
          <p:cNvSpPr>
            <a:spLocks xmlns:a="http://schemas.openxmlformats.org/drawingml/2006/main" noGrp="1"/>
          </p:cNvSpPr>
          <p:nvPr/>
        </p:nvSpPr>
        <p:spPr>
          <a:xfrm xmlns:a="http://schemas.openxmlformats.org/drawingml/2006/main">
            <a:off x="7905750" y="4000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C7188"/>
                </a:solidFill>
                <a:latin typeface="Courier New"/>
                <a:ea typeface="Courier New"/>
                <a:cs typeface="Courier New"/>
              </a:defRPr>
            </a:pPr>
            <a:r>
              <a:rPr sz="900" b="1">
                <a:solidFill>
                  <a:srgbClr val="5C7188"/>
                </a:solidFill>
                <a:latin typeface="Courier New"/>
                <a:ea typeface="Courier New"/>
                <a:cs typeface="Courier New"/>
              </a:rPr>
              <a:t>TIPS HINDAWI CHALLENGE  /  2026</a:t>
            </a:r>
          </a:p>
        </p:txBody>
      </p:sp>
      <p:sp>
        <p:nvSpPr>
          <p:cNvPr id="6" name="footer-rule-8">
            <a:extLst xmlns:a="http://schemas.openxmlformats.org/drawingml/2006/main">
              <a:ext uri="{FF2B5EF4-FFF2-40B4-BE49-F238E27FC236}">
                <a16:creationId xmlns:a16="http://schemas.microsoft.com/office/drawing/2014/main" id="{8E1A86BE-D301-421F-AE70-4194558E76CE}"/>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20364F"/>
          </a:solidFill>
          <a:ln xmlns:a="http://schemas.openxmlformats.org/drawingml/2006/main" w="0">
            <a:solidFill>
              <a:srgbClr val="20364F"/>
            </a:solidFill>
            <a:prstDash val="solid"/>
          </a:ln>
        </p:spPr>
      </p:sp>
      <p:sp>
        <p:nvSpPr>
          <p:cNvPr id="7" name="footer-brand-8">
            <a:extLst xmlns:a="http://schemas.openxmlformats.org/drawingml/2006/main">
              <a:ext uri="{FF2B5EF4-FFF2-40B4-BE49-F238E27FC236}">
                <a16:creationId xmlns:a16="http://schemas.microsoft.com/office/drawing/2014/main" id="{D3EFD9C7-FA9A-4A72-A210-BF2B51EB99F5}"/>
              </a:ext>
            </a:extLst>
          </p:cNvPr>
          <p:cNvSpPr>
            <a:spLocks xmlns:a="http://schemas.openxmlformats.org/drawingml/2006/main" noGrp="1"/>
          </p:cNvSpPr>
          <p:nvPr/>
        </p:nvSpPr>
        <p:spPr>
          <a:xfrm xmlns:a="http://schemas.openxmlformats.org/drawingml/2006/main">
            <a:off x="381000" y="65817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5C7188"/>
                </a:solidFill>
                <a:latin typeface="Courier New"/>
                <a:ea typeface="Courier New"/>
                <a:cs typeface="Courier New"/>
              </a:defRPr>
            </a:pPr>
            <a:r>
              <a:rPr sz="825" b="1">
                <a:solidFill>
                  <a:srgbClr val="5C7188"/>
                </a:solidFill>
                <a:latin typeface="Courier New"/>
                <a:ea typeface="Courier New"/>
                <a:cs typeface="Courier New"/>
              </a:rPr>
              <a:t>AI-SUPPORTED SECURITY REVIEW</a:t>
            </a:r>
          </a:p>
        </p:txBody>
      </p:sp>
      <p:sp>
        <p:nvSpPr>
          <p:cNvPr id="8" name="footer-number-8">
            <a:extLst xmlns:a="http://schemas.openxmlformats.org/drawingml/2006/main">
              <a:ext uri="{FF2B5EF4-FFF2-40B4-BE49-F238E27FC236}">
                <a16:creationId xmlns:a16="http://schemas.microsoft.com/office/drawing/2014/main" id="{C842CAAE-8A97-4035-85A1-9839EDD589FB}"/>
              </a:ext>
            </a:extLst>
          </p:cNvPr>
          <p:cNvSpPr>
            <a:spLocks xmlns:a="http://schemas.openxmlformats.org/drawingml/2006/main" noGrp="1"/>
          </p:cNvSpPr>
          <p:nvPr/>
        </p:nvSpPr>
        <p:spPr>
          <a:xfrm xmlns:a="http://schemas.openxmlformats.org/drawingml/2006/main">
            <a:off x="11239500" y="65627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5DFF2"/>
                </a:solidFill>
                <a:latin typeface="Courier New"/>
                <a:ea typeface="Courier New"/>
                <a:cs typeface="Courier New"/>
              </a:defRPr>
            </a:pPr>
            <a:r>
              <a:rPr sz="900" b="1">
                <a:solidFill>
                  <a:srgbClr val="55DFF2"/>
                </a:solidFill>
                <a:latin typeface="Courier New"/>
                <a:ea typeface="Courier New"/>
                <a:cs typeface="Courier New"/>
              </a:rPr>
              <a:t>08</a:t>
            </a:r>
          </a:p>
        </p:txBody>
      </p:sp>
      <p:sp>
        <p:nvSpPr>
          <p:cNvPr id="9" name="closing-eyebrow">
            <a:extLst xmlns:a="http://schemas.openxmlformats.org/drawingml/2006/main">
              <a:ext uri="{FF2B5EF4-FFF2-40B4-BE49-F238E27FC236}">
                <a16:creationId xmlns:a16="http://schemas.microsoft.com/office/drawing/2014/main" id="{5FFEB1FC-9A7F-46D7-84BA-478946ED824F}"/>
              </a:ext>
            </a:extLst>
          </p:cNvPr>
          <p:cNvSpPr>
            <a:spLocks xmlns:a="http://schemas.openxmlformats.org/drawingml/2006/main" noGrp="1"/>
          </p:cNvSpPr>
          <p:nvPr/>
        </p:nvSpPr>
        <p:spPr>
          <a:xfrm xmlns:a="http://schemas.openxmlformats.org/drawingml/2006/main">
            <a:off x="523875" y="10953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5DFF2"/>
                </a:solidFill>
                <a:latin typeface="Courier New"/>
                <a:ea typeface="Courier New"/>
                <a:cs typeface="Courier New"/>
              </a:defRPr>
            </a:pPr>
            <a:r>
              <a:rPr sz="1050" b="1">
                <a:solidFill>
                  <a:srgbClr val="55DFF2"/>
                </a:solidFill>
                <a:latin typeface="Courier New"/>
                <a:ea typeface="Courier New"/>
                <a:cs typeface="Courier New"/>
              </a:rPr>
              <a:t>RESPONSIBLE BY DESIGN</a:t>
            </a:r>
          </a:p>
        </p:txBody>
      </p:sp>
      <p:sp>
        <p:nvSpPr>
          <p:cNvPr id="10" name="closing-title-1">
            <a:extLst xmlns:a="http://schemas.openxmlformats.org/drawingml/2006/main">
              <a:ext uri="{FF2B5EF4-FFF2-40B4-BE49-F238E27FC236}">
                <a16:creationId xmlns:a16="http://schemas.microsoft.com/office/drawing/2014/main" id="{F1B2B9DA-F743-45C5-9935-958AE7778E9F}"/>
              </a:ext>
            </a:extLst>
          </p:cNvPr>
          <p:cNvSpPr>
            <a:spLocks xmlns:a="http://schemas.openxmlformats.org/drawingml/2006/main" noGrp="1"/>
          </p:cNvSpPr>
          <p:nvPr/>
        </p:nvSpPr>
        <p:spPr>
          <a:xfrm xmlns:a="http://schemas.openxmlformats.org/drawingml/2006/main">
            <a:off x="523875" y="1571625"/>
            <a:ext cx="514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EDF6FF"/>
                </a:solidFill>
                <a:latin typeface="Arial"/>
                <a:ea typeface="Arial"/>
                <a:cs typeface="Arial"/>
              </a:defRPr>
            </a:pPr>
            <a:r>
              <a:rPr sz="3750" b="1">
                <a:solidFill>
                  <a:srgbClr val="EDF6FF"/>
                </a:solidFill>
                <a:latin typeface="Arial"/>
                <a:ea typeface="Arial"/>
                <a:cs typeface="Arial"/>
              </a:rPr>
              <a:t>Review sooner.</a:t>
            </a:r>
          </a:p>
        </p:txBody>
      </p:sp>
      <p:sp>
        <p:nvSpPr>
          <p:cNvPr id="11" name="closing-title-2">
            <a:extLst xmlns:a="http://schemas.openxmlformats.org/drawingml/2006/main">
              <a:ext uri="{FF2B5EF4-FFF2-40B4-BE49-F238E27FC236}">
                <a16:creationId xmlns:a16="http://schemas.microsoft.com/office/drawing/2014/main" id="{9E108189-6EAA-4A91-8F34-5AA1EEC7A706}"/>
              </a:ext>
            </a:extLst>
          </p:cNvPr>
          <p:cNvSpPr>
            <a:spLocks xmlns:a="http://schemas.openxmlformats.org/drawingml/2006/main" noGrp="1"/>
          </p:cNvSpPr>
          <p:nvPr/>
        </p:nvSpPr>
        <p:spPr>
          <a:xfrm xmlns:a="http://schemas.openxmlformats.org/drawingml/2006/main">
            <a:off x="523875" y="2190750"/>
            <a:ext cx="5619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9678FF"/>
                </a:solidFill>
                <a:latin typeface="Arial"/>
                <a:ea typeface="Arial"/>
                <a:cs typeface="Arial"/>
              </a:defRPr>
            </a:pPr>
            <a:r>
              <a:rPr sz="3300" b="1">
                <a:solidFill>
                  <a:srgbClr val="9678FF"/>
                </a:solidFill>
                <a:latin typeface="Arial"/>
                <a:ea typeface="Arial"/>
                <a:cs typeface="Arial"/>
              </a:rPr>
              <a:t>Keep humans in the</a:t>
            </a:r>
          </a:p>
          <a:p xmlns:a="http://schemas.openxmlformats.org/drawingml/2006/main">
            <a:pPr algn="l">
              <a:defRPr sz="3300" b="1">
                <a:solidFill>
                  <a:srgbClr val="9678FF"/>
                </a:solidFill>
                <a:latin typeface="Arial"/>
                <a:ea typeface="Arial"/>
                <a:cs typeface="Arial"/>
              </a:defRPr>
            </a:pPr>
            <a:r>
              <a:rPr sz="3300" b="1">
                <a:solidFill>
                  <a:srgbClr val="9678FF"/>
                </a:solidFill>
                <a:latin typeface="Arial"/>
                <a:ea typeface="Arial"/>
                <a:cs typeface="Arial"/>
              </a:rPr>
              <a:t>loop.</a:t>
            </a:r>
          </a:p>
        </p:txBody>
      </p:sp>
      <p:sp>
        <p:nvSpPr>
          <p:cNvPr id="12" name="closing-thesis">
            <a:extLst xmlns:a="http://schemas.openxmlformats.org/drawingml/2006/main">
              <a:ext uri="{FF2B5EF4-FFF2-40B4-BE49-F238E27FC236}">
                <a16:creationId xmlns:a16="http://schemas.microsoft.com/office/drawing/2014/main" id="{CACF77A4-6601-4280-A224-ED938EC3D4D2}"/>
              </a:ext>
            </a:extLst>
          </p:cNvPr>
          <p:cNvSpPr>
            <a:spLocks xmlns:a="http://schemas.openxmlformats.org/drawingml/2006/main" noGrp="1"/>
          </p:cNvSpPr>
          <p:nvPr/>
        </p:nvSpPr>
        <p:spPr>
          <a:xfrm xmlns:a="http://schemas.openxmlformats.org/drawingml/2006/main">
            <a:off x="523875" y="35433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EDF6FF"/>
                </a:solidFill>
                <a:latin typeface="Arial"/>
                <a:ea typeface="Arial"/>
                <a:cs typeface="Arial"/>
              </a:defRPr>
            </a:pPr>
            <a:r>
              <a:rPr sz="1725" b="1">
                <a:solidFill>
                  <a:srgbClr val="EDF6FF"/>
                </a:solidFill>
                <a:latin typeface="Arial"/>
                <a:ea typeface="Arial"/>
                <a:cs typeface="Arial"/>
              </a:rPr>
              <a:t>SecureRepo AI is a first-pass reviewer—not a final verdict.</a:t>
            </a:r>
          </a:p>
        </p:txBody>
      </p:sp>
      <p:sp>
        <p:nvSpPr>
          <p:cNvPr id="13" name="closing-next-panel">
            <a:extLst xmlns:a="http://schemas.openxmlformats.org/drawingml/2006/main">
              <a:ext uri="{FF2B5EF4-FFF2-40B4-BE49-F238E27FC236}">
                <a16:creationId xmlns:a16="http://schemas.microsoft.com/office/drawing/2014/main" id="{8BA247CB-1D64-4611-A9FA-CEB7AA74B3A4}"/>
              </a:ext>
            </a:extLst>
          </p:cNvPr>
          <p:cNvSpPr>
            <a:spLocks xmlns:a="http://schemas.openxmlformats.org/drawingml/2006/main" noGrp="1"/>
          </p:cNvSpPr>
          <p:nvPr/>
        </p:nvSpPr>
        <p:spPr>
          <a:xfrm xmlns:a="http://schemas.openxmlformats.org/drawingml/2006/main">
            <a:off x="523875" y="4514850"/>
            <a:ext cx="5286375" cy="1123950"/>
          </a:xfrm>
          <a:prstGeom xmlns:a="http://schemas.openxmlformats.org/drawingml/2006/main" prst="roundRect">
            <a:avLst>
              <a:gd name="adj" fmla="val 6780"/>
            </a:avLst>
          </a:prstGeom>
          <a:solidFill xmlns:a="http://schemas.openxmlformats.org/drawingml/2006/main">
            <a:srgbClr val="0C1A2C"/>
          </a:solidFill>
          <a:ln xmlns:a="http://schemas.openxmlformats.org/drawingml/2006/main" w="9525">
            <a:solidFill>
              <a:srgbClr val="20364F"/>
            </a:solidFill>
            <a:prstDash val="solid"/>
          </a:ln>
        </p:spPr>
      </p:sp>
      <p:sp>
        <p:nvSpPr>
          <p:cNvPr id="14" name="closing-next-label">
            <a:extLst xmlns:a="http://schemas.openxmlformats.org/drawingml/2006/main">
              <a:ext uri="{FF2B5EF4-FFF2-40B4-BE49-F238E27FC236}">
                <a16:creationId xmlns:a16="http://schemas.microsoft.com/office/drawing/2014/main" id="{7675898A-9103-4F29-8077-1A5E2C7D726B}"/>
              </a:ext>
            </a:extLst>
          </p:cNvPr>
          <p:cNvSpPr>
            <a:spLocks xmlns:a="http://schemas.openxmlformats.org/drawingml/2006/main" noGrp="1"/>
          </p:cNvSpPr>
          <p:nvPr/>
        </p:nvSpPr>
        <p:spPr>
          <a:xfrm xmlns:a="http://schemas.openxmlformats.org/drawingml/2006/main">
            <a:off x="762000" y="47148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AE0AA"/>
                </a:solidFill>
                <a:latin typeface="Courier New"/>
                <a:ea typeface="Courier New"/>
                <a:cs typeface="Courier New"/>
              </a:defRPr>
            </a:pPr>
            <a:r>
              <a:rPr sz="975" b="1">
                <a:solidFill>
                  <a:srgbClr val="5AE0AA"/>
                </a:solidFill>
                <a:latin typeface="Courier New"/>
                <a:ea typeface="Courier New"/>
                <a:cs typeface="Courier New"/>
              </a:rPr>
              <a:t>NEXT</a:t>
            </a:r>
          </a:p>
        </p:txBody>
      </p:sp>
      <p:sp>
        <p:nvSpPr>
          <p:cNvPr id="15" name="closing-next-copy">
            <a:extLst xmlns:a="http://schemas.openxmlformats.org/drawingml/2006/main">
              <a:ext uri="{FF2B5EF4-FFF2-40B4-BE49-F238E27FC236}">
                <a16:creationId xmlns:a16="http://schemas.microsoft.com/office/drawing/2014/main" id="{45335FAA-35A4-40BD-B463-B272E283A734}"/>
              </a:ext>
            </a:extLst>
          </p:cNvPr>
          <p:cNvSpPr>
            <a:spLocks xmlns:a="http://schemas.openxmlformats.org/drawingml/2006/main" noGrp="1"/>
          </p:cNvSpPr>
          <p:nvPr/>
        </p:nvSpPr>
        <p:spPr>
          <a:xfrm xmlns:a="http://schemas.openxmlformats.org/drawingml/2006/main">
            <a:off x="762000" y="5019675"/>
            <a:ext cx="4714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Formal benchmark · more languages</a:t>
            </a:r>
          </a:p>
          <a:p xmlns:a="http://schemas.openxmlformats.org/drawingml/2006/main">
            <a:pPr algn="l">
              <a:defRPr sz="1350" b="0">
                <a:solidFill>
                  <a:srgbClr val="879DB3"/>
                </a:solidFill>
                <a:latin typeface="Arial"/>
                <a:ea typeface="Arial"/>
                <a:cs typeface="Arial"/>
              </a:defRPr>
            </a:pPr>
            <a:r>
              <a:rPr sz="1350" b="0">
                <a:solidFill>
                  <a:srgbClr val="879DB3"/>
                </a:solidFill>
                <a:latin typeface="Arial"/>
                <a:ea typeface="Arial"/>
                <a:cs typeface="Arial"/>
              </a:rPr>
              <a:t>private repositories · permanent deployment</a:t>
            </a:r>
          </a:p>
        </p:txBody>
      </p:sp>
      <p:sp>
        <p:nvSpPr>
          <p:cNvPr id="16" name="closing-interface-panel">
            <a:extLst xmlns:a="http://schemas.openxmlformats.org/drawingml/2006/main">
              <a:ext uri="{FF2B5EF4-FFF2-40B4-BE49-F238E27FC236}">
                <a16:creationId xmlns:a16="http://schemas.microsoft.com/office/drawing/2014/main" id="{A885B176-C36E-4F01-B855-BAFE18B16A5E}"/>
              </a:ext>
            </a:extLst>
          </p:cNvPr>
          <p:cNvSpPr>
            <a:spLocks xmlns:a="http://schemas.openxmlformats.org/drawingml/2006/main" noGrp="1"/>
          </p:cNvSpPr>
          <p:nvPr/>
        </p:nvSpPr>
        <p:spPr>
          <a:xfrm xmlns:a="http://schemas.openxmlformats.org/drawingml/2006/main">
            <a:off x="6381750" y="1104900"/>
            <a:ext cx="5314950" cy="3686175"/>
          </a:xfrm>
          <a:prstGeom xmlns:a="http://schemas.openxmlformats.org/drawingml/2006/main" prst="roundRect">
            <a:avLst>
              <a:gd name="adj" fmla="val 2067"/>
            </a:avLst>
          </a:prstGeom>
          <a:solidFill xmlns:a="http://schemas.openxmlformats.org/drawingml/2006/main">
            <a:srgbClr val="0C1A2C"/>
          </a:solidFill>
          <a:ln xmlns:a="http://schemas.openxmlformats.org/drawingml/2006/main" w="9525">
            <a:solidFill>
              <a:srgbClr val="20364F"/>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1a6dac9bf8a410d"/>
          <a:stretch xmlns:a="http://schemas.openxmlformats.org/drawingml/2006/main"/>
        </p:blipFill>
        <p:spPr>
          <a:xfrm xmlns:a="http://schemas.openxmlformats.org/drawingml/2006/main">
            <a:off x="6534150" y="1818274"/>
            <a:ext cx="5010150" cy="2259428"/>
          </a:xfrm>
          <a:prstGeom xmlns:a="http://schemas.openxmlformats.org/drawingml/2006/main" prst="roundRect">
            <a:avLst>
              <a:gd name="adj" fmla="val 2254"/>
            </a:avLst>
          </a:prstGeom>
        </p:spPr>
      </p:pic>
      <p:sp>
        <p:nvSpPr>
          <p:cNvPr id="18" name="closing-repo-panel">
            <a:extLst xmlns:a="http://schemas.openxmlformats.org/drawingml/2006/main">
              <a:ext uri="{FF2B5EF4-FFF2-40B4-BE49-F238E27FC236}">
                <a16:creationId xmlns:a16="http://schemas.microsoft.com/office/drawing/2014/main" id="{8104D40D-0E27-469E-AC41-AC59B2CB8056}"/>
              </a:ext>
            </a:extLst>
          </p:cNvPr>
          <p:cNvSpPr>
            <a:spLocks xmlns:a="http://schemas.openxmlformats.org/drawingml/2006/main" noGrp="1"/>
          </p:cNvSpPr>
          <p:nvPr/>
        </p:nvSpPr>
        <p:spPr>
          <a:xfrm xmlns:a="http://schemas.openxmlformats.org/drawingml/2006/main">
            <a:off x="6381750" y="5076825"/>
            <a:ext cx="5314950" cy="666750"/>
          </a:xfrm>
          <a:prstGeom xmlns:a="http://schemas.openxmlformats.org/drawingml/2006/main" prst="roundRect">
            <a:avLst>
              <a:gd name="adj" fmla="val 11429"/>
            </a:avLst>
          </a:prstGeom>
          <a:solidFill xmlns:a="http://schemas.openxmlformats.org/drawingml/2006/main">
            <a:srgbClr val="0A2034"/>
          </a:solidFill>
          <a:ln xmlns:a="http://schemas.openxmlformats.org/drawingml/2006/main" w="9525">
            <a:solidFill>
              <a:srgbClr val="20364F"/>
            </a:solidFill>
            <a:prstDash val="solid"/>
          </a:ln>
        </p:spPr>
      </p:sp>
      <p:sp>
        <p:nvSpPr>
          <p:cNvPr id="19" name="closing-repo-dot">
            <a:extLst xmlns:a="http://schemas.openxmlformats.org/drawingml/2006/main">
              <a:ext uri="{FF2B5EF4-FFF2-40B4-BE49-F238E27FC236}">
                <a16:creationId xmlns:a16="http://schemas.microsoft.com/office/drawing/2014/main" id="{356B53E3-1A48-4925-9D96-6CD828C338B6}"/>
              </a:ext>
            </a:extLst>
          </p:cNvPr>
          <p:cNvSpPr>
            <a:spLocks xmlns:a="http://schemas.openxmlformats.org/drawingml/2006/main" noGrp="1"/>
          </p:cNvSpPr>
          <p:nvPr/>
        </p:nvSpPr>
        <p:spPr>
          <a:xfrm xmlns:a="http://schemas.openxmlformats.org/drawingml/2006/main">
            <a:off x="6619875" y="5362575"/>
            <a:ext cx="95250" cy="95250"/>
          </a:xfrm>
          <a:prstGeom xmlns:a="http://schemas.openxmlformats.org/drawingml/2006/main" prst="ellipse">
            <a:avLst/>
          </a:prstGeom>
          <a:solidFill xmlns:a="http://schemas.openxmlformats.org/drawingml/2006/main">
            <a:srgbClr val="5AE0AA"/>
          </a:solidFill>
          <a:ln xmlns:a="http://schemas.openxmlformats.org/drawingml/2006/main" w="0">
            <a:solidFill>
              <a:srgbClr val="5AE0AA"/>
            </a:solidFill>
            <a:prstDash val="solid"/>
          </a:ln>
        </p:spPr>
      </p:sp>
      <p:sp>
        <p:nvSpPr>
          <p:cNvPr id="20" name="closing-repo-link">
            <a:extLst xmlns:a="http://schemas.openxmlformats.org/drawingml/2006/main">
              <a:ext uri="{FF2B5EF4-FFF2-40B4-BE49-F238E27FC236}">
                <a16:creationId xmlns:a16="http://schemas.microsoft.com/office/drawing/2014/main" id="{32AB709D-3153-4C8A-96AC-8A2A16C93E05}"/>
              </a:ext>
            </a:extLst>
          </p:cNvPr>
          <p:cNvSpPr>
            <a:spLocks xmlns:a="http://schemas.openxmlformats.org/drawingml/2006/main" noGrp="1"/>
          </p:cNvSpPr>
          <p:nvPr/>
        </p:nvSpPr>
        <p:spPr>
          <a:xfrm xmlns:a="http://schemas.openxmlformats.org/drawingml/2006/main">
            <a:off x="6848475" y="525780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5DFF2"/>
                </a:solidFill>
                <a:latin typeface="Courier New"/>
                <a:ea typeface="Courier New"/>
                <a:cs typeface="Courier New"/>
              </a:defRPr>
            </a:pPr>
            <a:r>
              <a:rPr sz="1350" b="1">
                <a:solidFill>
                  <a:srgbClr val="55DFF2"/>
                </a:solidFill>
                <a:latin typeface="Courier New"/>
                <a:ea typeface="Courier New"/>
                <a:cs typeface="Courier New"/>
              </a:rPr>
              <a:t>github.com/AminTariq/SecureRepo-AI</a:t>
            </a:r>
          </a:p>
        </p:txBody>
      </p:sp>
    </p:spTree>
    <p:extLst>
      <p:ext uri="{BB962C8B-B14F-4D97-AF65-F5344CB8AC3E}">
        <p14:creationId xmlns:p14="http://schemas.microsoft.com/office/powerpoint/2010/main" val="438585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2026-07-29T00:45:18.6200000Z</dcterms:created>
  <dcterms:modified xsi:type="dcterms:W3CDTF">2026-07-29T00:45:18.6200000Z</dcterms:modified>
</coreProperties>
</file>